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0" r:id="rId4"/>
    <p:sldId id="258" r:id="rId5"/>
    <p:sldId id="291" r:id="rId6"/>
    <p:sldId id="259" r:id="rId7"/>
    <p:sldId id="260" r:id="rId8"/>
    <p:sldId id="261" r:id="rId9"/>
    <p:sldId id="262" r:id="rId10"/>
    <p:sldId id="263" r:id="rId11"/>
    <p:sldId id="264" r:id="rId12"/>
    <p:sldId id="292" r:id="rId13"/>
    <p:sldId id="265" r:id="rId14"/>
    <p:sldId id="266" r:id="rId15"/>
    <p:sldId id="293" r:id="rId16"/>
    <p:sldId id="267" r:id="rId17"/>
    <p:sldId id="268" r:id="rId18"/>
    <p:sldId id="269" r:id="rId19"/>
    <p:sldId id="294" r:id="rId20"/>
    <p:sldId id="270" r:id="rId21"/>
    <p:sldId id="271" r:id="rId22"/>
    <p:sldId id="272" r:id="rId23"/>
    <p:sldId id="296" r:id="rId24"/>
    <p:sldId id="273" r:id="rId25"/>
    <p:sldId id="274" r:id="rId26"/>
    <p:sldId id="275" r:id="rId27"/>
    <p:sldId id="276" r:id="rId28"/>
    <p:sldId id="277" r:id="rId29"/>
    <p:sldId id="297" r:id="rId30"/>
    <p:sldId id="278" r:id="rId31"/>
    <p:sldId id="279" r:id="rId32"/>
    <p:sldId id="298" r:id="rId33"/>
    <p:sldId id="280" r:id="rId34"/>
    <p:sldId id="281" r:id="rId35"/>
    <p:sldId id="299" r:id="rId36"/>
    <p:sldId id="282" r:id="rId37"/>
    <p:sldId id="283" r:id="rId38"/>
    <p:sldId id="284" r:id="rId39"/>
    <p:sldId id="285" r:id="rId40"/>
    <p:sldId id="300" r:id="rId41"/>
    <p:sldId id="286" r:id="rId42"/>
    <p:sldId id="287" r:id="rId43"/>
    <p:sldId id="288" r:id="rId44"/>
    <p:sldId id="289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5C"/>
    <a:srgbClr val="333333"/>
    <a:srgbClr val="2F2F2F"/>
    <a:srgbClr val="1E3A8A"/>
    <a:srgbClr val="00897B"/>
    <a:srgbClr val="009A46"/>
    <a:srgbClr val="006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Data%20Analytics\projtable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Data%20Analytics\projtable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Data%20Analytics\projtable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Data%20Analytics\projtable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Data%20Analytics\projtable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Data%20Analytics\projtable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Data%20Analytics\projtable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NOVO\Desktop\Data%20Analytics\projtable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[projtables.xlsx]Sheet2!PivotTable2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Spent By Each Customer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dk1">
              <a:tint val="88500"/>
              <a:alpha val="85000"/>
            </a:schemeClr>
          </a:solidFill>
          <a:ln w="9525" cap="flat" cmpd="sng" algn="ctr">
            <a:solidFill>
              <a:schemeClr val="dk1">
                <a:tint val="88500"/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dk1">
              <a:tint val="88500"/>
              <a:alpha val="85000"/>
            </a:schemeClr>
          </a:solidFill>
          <a:ln w="9525" cap="flat" cmpd="sng" algn="ctr">
            <a:solidFill>
              <a:schemeClr val="dk1">
                <a:tint val="88500"/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dk1">
              <a:tint val="88500"/>
              <a:alpha val="85000"/>
            </a:schemeClr>
          </a:solidFill>
          <a:ln w="9525" cap="flat" cmpd="sng" algn="ctr">
            <a:solidFill>
              <a:schemeClr val="dk1">
                <a:tint val="88500"/>
                <a:lumMod val="75000"/>
              </a:schemeClr>
            </a:solidFill>
            <a:round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Sheet2!$C$2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dk1">
                <a:tint val="88500"/>
                <a:alpha val="85000"/>
              </a:schemeClr>
            </a:solidFill>
            <a:ln w="9525" cap="flat" cmpd="sng" algn="ctr">
              <a:solidFill>
                <a:schemeClr val="dk1">
                  <a:tint val="88500"/>
                  <a:lumMod val="75000"/>
                </a:schemeClr>
              </a:solidFill>
              <a:round/>
            </a:ln>
            <a:effectLst/>
            <a:sp3d contourW="9525">
              <a:contourClr>
                <a:schemeClr val="dk1">
                  <a:tint val="88500"/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Sheet2!$A$3:$B$23</c:f>
              <c:multiLvlStrCache>
                <c:ptCount val="20"/>
                <c:lvl>
                  <c:pt idx="0">
                    <c:v>Alice Brown</c:v>
                  </c:pt>
                  <c:pt idx="1">
                    <c:v>David Smith</c:v>
                  </c:pt>
                  <c:pt idx="2">
                    <c:v>Maria Lopez</c:v>
                  </c:pt>
                  <c:pt idx="3">
                    <c:v>John Carter</c:v>
                  </c:pt>
                  <c:pt idx="4">
                    <c:v>Sarah Miller</c:v>
                  </c:pt>
                  <c:pt idx="5">
                    <c:v>Michael Green</c:v>
                  </c:pt>
                  <c:pt idx="6">
                    <c:v>Emma Wilson</c:v>
                  </c:pt>
                  <c:pt idx="7">
                    <c:v>Oliver Jones</c:v>
                  </c:pt>
                  <c:pt idx="8">
                    <c:v>Sophia Davis</c:v>
                  </c:pt>
                  <c:pt idx="9">
                    <c:v>James Taylor</c:v>
                  </c:pt>
                  <c:pt idx="10">
                    <c:v>Isabella Martin</c:v>
                  </c:pt>
                  <c:pt idx="11">
                    <c:v>Lucas Lee</c:v>
                  </c:pt>
                  <c:pt idx="12">
                    <c:v>Mia Harris</c:v>
                  </c:pt>
                  <c:pt idx="13">
                    <c:v>Ethan Clark</c:v>
                  </c:pt>
                  <c:pt idx="14">
                    <c:v>Ava Lewis</c:v>
                  </c:pt>
                  <c:pt idx="15">
                    <c:v>Noah Walker</c:v>
                  </c:pt>
                  <c:pt idx="16">
                    <c:v>Liam Hall</c:v>
                  </c:pt>
                  <c:pt idx="17">
                    <c:v>Charlotte King</c:v>
                  </c:pt>
                  <c:pt idx="18">
                    <c:v>Amelia Scott</c:v>
                  </c:pt>
                  <c:pt idx="19">
                    <c:v>Benjamin Young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Sheet2!$C$3:$C$23</c:f>
              <c:numCache>
                <c:formatCode>General</c:formatCode>
                <c:ptCount val="20"/>
                <c:pt idx="0">
                  <c:v>210.49</c:v>
                </c:pt>
                <c:pt idx="1">
                  <c:v>45</c:v>
                </c:pt>
                <c:pt idx="2">
                  <c:v>360.25</c:v>
                </c:pt>
                <c:pt idx="3">
                  <c:v>200</c:v>
                </c:pt>
                <c:pt idx="4">
                  <c:v>214.99</c:v>
                </c:pt>
                <c:pt idx="5">
                  <c:v>130.75</c:v>
                </c:pt>
                <c:pt idx="6">
                  <c:v>67.400000000000006</c:v>
                </c:pt>
                <c:pt idx="7">
                  <c:v>89</c:v>
                </c:pt>
                <c:pt idx="8">
                  <c:v>210</c:v>
                </c:pt>
                <c:pt idx="9">
                  <c:v>270.5</c:v>
                </c:pt>
                <c:pt idx="10">
                  <c:v>75.989999999999995</c:v>
                </c:pt>
                <c:pt idx="11">
                  <c:v>155.19999999999999</c:v>
                </c:pt>
                <c:pt idx="12">
                  <c:v>54.9</c:v>
                </c:pt>
                <c:pt idx="13">
                  <c:v>194.99</c:v>
                </c:pt>
                <c:pt idx="14">
                  <c:v>102.75</c:v>
                </c:pt>
                <c:pt idx="15">
                  <c:v>220</c:v>
                </c:pt>
                <c:pt idx="16">
                  <c:v>80.25</c:v>
                </c:pt>
                <c:pt idx="17">
                  <c:v>140.4</c:v>
                </c:pt>
                <c:pt idx="18">
                  <c:v>60.6</c:v>
                </c:pt>
                <c:pt idx="19">
                  <c:v>175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5C-4A30-9929-053CF456B8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1617065183"/>
        <c:axId val="1617065663"/>
        <c:axId val="0"/>
      </c:bar3DChart>
      <c:catAx>
        <c:axId val="161706518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Customer ID , Customer Name</a:t>
                </a:r>
              </a:p>
            </c:rich>
          </c:tx>
          <c:layout>
            <c:manualLayout>
              <c:xMode val="edge"/>
              <c:yMode val="edge"/>
              <c:x val="7.9208588509769601E-3"/>
              <c:y val="0.318673199869003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7065663"/>
        <c:crosses val="autoZero"/>
        <c:auto val="1"/>
        <c:lblAlgn val="ctr"/>
        <c:lblOffset val="100"/>
        <c:noMultiLvlLbl val="0"/>
      </c:catAx>
      <c:valAx>
        <c:axId val="16170656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Amount Spent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7065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[projtables.xlsx]Sheet2!PivotTable1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 dirty="0"/>
              <a:t>Orders</a:t>
            </a:r>
            <a:r>
              <a:rPr lang="en-US" sz="2400" b="1" baseline="0" dirty="0"/>
              <a:t> Made In October</a:t>
            </a:r>
            <a:endParaRPr lang="en-US" sz="2400" b="1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dk1">
              <a:tint val="885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dk1">
              <a:tint val="885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dk1">
              <a:tint val="885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Sheet2!$G$2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2.2621810433582721E-2"/>
                  <c:y val="-6.240933202166296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8B4A60F-F102-4296-82EF-1CABACFE8909}" type="VALUE">
                      <a:rPr lang="en-US" sz="2000" b="1"/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365383998799847E-2"/>
                      <c:h val="7.6798918520977283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296-4F54-A07D-253C2CEC40A2}"/>
                </c:ext>
              </c:extLst>
            </c:dLbl>
            <c:dLbl>
              <c:idx val="1"/>
              <c:layout>
                <c:manualLayout>
                  <c:x val="-5.4040991591336497E-2"/>
                  <c:y val="-2.5905798949118378E-2"/>
                </c:manualLayout>
              </c:layout>
              <c:tx>
                <c:rich>
                  <a:bodyPr/>
                  <a:lstStyle/>
                  <a:p>
                    <a:fld id="{495E2549-5F69-44C9-BB7F-64151DEAC2ED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2296-4F54-A07D-253C2CEC40A2}"/>
                </c:ext>
              </c:extLst>
            </c:dLbl>
            <c:dLbl>
              <c:idx val="2"/>
              <c:layout>
                <c:manualLayout>
                  <c:x val="1.6337974202031872E-2"/>
                  <c:y val="-8.4782614742569234E-2"/>
                </c:manualLayout>
              </c:layout>
              <c:tx>
                <c:rich>
                  <a:bodyPr/>
                  <a:lstStyle/>
                  <a:p>
                    <a:fld id="{A4B04C39-24E2-4ED7-A15D-ACD4E7A4BDBF}" type="VALUE">
                      <a:rPr lang="en-US" sz="2000" b="1"/>
                      <a:pPr/>
                      <a:t>[VALUE]</a:t>
                    </a:fld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296-4F54-A07D-253C2CEC40A2}"/>
                </c:ext>
              </c:extLst>
            </c:dLbl>
            <c:dLbl>
              <c:idx val="3"/>
              <c:layout>
                <c:manualLayout>
                  <c:x val="3.5189482896684131E-2"/>
                  <c:y val="-7.7717396847355139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C2CC045-EC5D-4F79-90F0-BE4312C871D6}" type="VALUE">
                      <a:rPr lang="en-US" sz="2000" b="1"/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5.5542877929702562E-2"/>
                      <c:h val="5.5603264835334981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2296-4F54-A07D-253C2CEC40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Sheet2!$E$3:$F$7</c:f>
              <c:multiLvlStrCache>
                <c:ptCount val="4"/>
                <c:lvl>
                  <c:pt idx="0">
                    <c:v>14-10-23</c:v>
                  </c:pt>
                  <c:pt idx="1">
                    <c:v>29-10-23</c:v>
                  </c:pt>
                  <c:pt idx="2">
                    <c:v>02-10-23</c:v>
                  </c:pt>
                  <c:pt idx="3">
                    <c:v>28-10-23</c:v>
                  </c:pt>
                </c:lvl>
                <c:lvl>
                  <c:pt idx="0">
                    <c:v>Amelia Scott</c:v>
                  </c:pt>
                  <c:pt idx="1">
                    <c:v>Benjamin Young</c:v>
                  </c:pt>
                  <c:pt idx="2">
                    <c:v>Charlotte King</c:v>
                  </c:pt>
                  <c:pt idx="3">
                    <c:v>Sarah Miller</c:v>
                  </c:pt>
                </c:lvl>
              </c:multiLvlStrCache>
            </c:multiLvlStrRef>
          </c:cat>
          <c:val>
            <c:numRef>
              <c:f>Sheet2!$G$3:$G$7</c:f>
              <c:numCache>
                <c:formatCode>General</c:formatCode>
                <c:ptCount val="4"/>
                <c:pt idx="0">
                  <c:v>60.6</c:v>
                </c:pt>
                <c:pt idx="1">
                  <c:v>175</c:v>
                </c:pt>
                <c:pt idx="2">
                  <c:v>140.4</c:v>
                </c:pt>
                <c:pt idx="3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96-4F54-A07D-253C2CEC40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94030175"/>
        <c:axId val="694025855"/>
        <c:axId val="0"/>
      </c:bar3DChart>
      <c:catAx>
        <c:axId val="694030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Customer</a:t>
                </a:r>
                <a:r>
                  <a:rPr lang="en-US" sz="1600" b="1" baseline="0" dirty="0"/>
                  <a:t> Name , Order Date</a:t>
                </a:r>
                <a:endParaRPr lang="en-US" sz="1600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025855"/>
        <c:crosses val="autoZero"/>
        <c:auto val="1"/>
        <c:lblAlgn val="ctr"/>
        <c:lblOffset val="100"/>
        <c:noMultiLvlLbl val="0"/>
      </c:catAx>
      <c:valAx>
        <c:axId val="69402585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Amount</a:t>
                </a:r>
                <a:r>
                  <a:rPr lang="en-US" baseline="0" dirty="0"/>
                  <a:t> 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030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[projtables.xlsx]Sheet2!PivotTable8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</a:t>
            </a:r>
            <a:r>
              <a:rPr lang="en-US" baseline="0" dirty="0"/>
              <a:t> Spent &gt; 200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Sheet2!$C$27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dk1">
                    <a:tint val="88500"/>
                    <a:satMod val="103000"/>
                    <a:lumMod val="102000"/>
                    <a:tint val="94000"/>
                  </a:schemeClr>
                </a:gs>
                <a:gs pos="50000">
                  <a:schemeClr val="dk1">
                    <a:tint val="88500"/>
                    <a:satMod val="110000"/>
                    <a:lumMod val="100000"/>
                    <a:shade val="100000"/>
                  </a:schemeClr>
                </a:gs>
                <a:gs pos="100000">
                  <a:schemeClr val="dk1">
                    <a:tint val="885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8.925506893680258E-3"/>
                  <c:y val="-6.67020551585972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99-4DD2-863F-7663C22B12E3}"/>
                </c:ext>
              </c:extLst>
            </c:dLbl>
            <c:dLbl>
              <c:idx val="1"/>
              <c:layout>
                <c:manualLayout>
                  <c:x val="-1.004119525539029E-2"/>
                  <c:y val="-5.290162995337015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599-4DD2-863F-7663C22B12E3}"/>
                </c:ext>
              </c:extLst>
            </c:dLbl>
            <c:dLbl>
              <c:idx val="2"/>
              <c:layout>
                <c:manualLayout>
                  <c:x val="-8.1816201377662405E-17"/>
                  <c:y val="-6.90021260261349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99-4DD2-863F-7663C22B12E3}"/>
                </c:ext>
              </c:extLst>
            </c:dLbl>
            <c:dLbl>
              <c:idx val="3"/>
              <c:layout>
                <c:manualLayout>
                  <c:x val="4.4627534468400475E-3"/>
                  <c:y val="-6.900212602613496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99-4DD2-863F-7663C22B12E3}"/>
                </c:ext>
              </c:extLst>
            </c:dLbl>
            <c:dLbl>
              <c:idx val="4"/>
              <c:layout>
                <c:manualLayout>
                  <c:x val="5.5784418085500793E-3"/>
                  <c:y val="-5.98018425559836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99-4DD2-863F-7663C22B12E3}"/>
                </c:ext>
              </c:extLst>
            </c:dLbl>
            <c:dLbl>
              <c:idx val="5"/>
              <c:layout>
                <c:manualLayout>
                  <c:x val="-3.3470650851300967E-3"/>
                  <c:y val="-8.05024803638241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599-4DD2-863F-7663C22B12E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Sheet2!$A$28:$B$34</c:f>
              <c:multiLvlStrCache>
                <c:ptCount val="6"/>
                <c:lvl>
                  <c:pt idx="0">
                    <c:v>Alice Brown</c:v>
                  </c:pt>
                  <c:pt idx="1">
                    <c:v>Maria Lopez</c:v>
                  </c:pt>
                  <c:pt idx="2">
                    <c:v>Sarah Miller</c:v>
                  </c:pt>
                  <c:pt idx="3">
                    <c:v>Sophia Davis</c:v>
                  </c:pt>
                  <c:pt idx="4">
                    <c:v>James Taylor</c:v>
                  </c:pt>
                  <c:pt idx="5">
                    <c:v>Noah Walker</c:v>
                  </c:pt>
                </c:lvl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9</c:v>
                  </c:pt>
                  <c:pt idx="4">
                    <c:v>10</c:v>
                  </c:pt>
                  <c:pt idx="5">
                    <c:v>16</c:v>
                  </c:pt>
                </c:lvl>
              </c:multiLvlStrCache>
            </c:multiLvlStrRef>
          </c:cat>
          <c:val>
            <c:numRef>
              <c:f>Sheet2!$C$28:$C$34</c:f>
              <c:numCache>
                <c:formatCode>General</c:formatCode>
                <c:ptCount val="6"/>
                <c:pt idx="0">
                  <c:v>210.49</c:v>
                </c:pt>
                <c:pt idx="1">
                  <c:v>360.25</c:v>
                </c:pt>
                <c:pt idx="2">
                  <c:v>214.99</c:v>
                </c:pt>
                <c:pt idx="3">
                  <c:v>210</c:v>
                </c:pt>
                <c:pt idx="4">
                  <c:v>270.5</c:v>
                </c:pt>
                <c:pt idx="5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99-4DD2-863F-7663C22B12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506542367"/>
        <c:axId val="1506539967"/>
        <c:axId val="0"/>
      </c:bar3DChart>
      <c:catAx>
        <c:axId val="15065423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Customer</a:t>
                </a:r>
                <a:r>
                  <a:rPr lang="en-US" sz="1600" b="1" baseline="0" dirty="0"/>
                  <a:t> ID , Customer Name</a:t>
                </a:r>
                <a:endParaRPr lang="en-US" sz="1600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6539967"/>
        <c:crosses val="autoZero"/>
        <c:auto val="1"/>
        <c:lblAlgn val="ctr"/>
        <c:lblOffset val="100"/>
        <c:noMultiLvlLbl val="0"/>
      </c:catAx>
      <c:valAx>
        <c:axId val="1506539967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Total</a:t>
                </a:r>
                <a:r>
                  <a:rPr lang="en-US" sz="1600" b="1" baseline="0" dirty="0"/>
                  <a:t> Spent</a:t>
                </a:r>
                <a:endParaRPr lang="en-US" sz="1600" b="1" dirty="0"/>
              </a:p>
            </c:rich>
          </c:tx>
          <c:layout>
            <c:manualLayout>
              <c:xMode val="edge"/>
              <c:yMode val="edge"/>
              <c:x val="2.1143700046041911E-2"/>
              <c:y val="0.4305330604398858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6542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[projtables.xlsx]Sheet2!PivotTable4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Orders</a:t>
            </a:r>
            <a:r>
              <a:rPr lang="en-US" baseline="0" dirty="0"/>
              <a:t> over $150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Sheet2!$J$2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dk1">
                    <a:tint val="88500"/>
                    <a:satMod val="103000"/>
                    <a:lumMod val="102000"/>
                    <a:tint val="94000"/>
                  </a:schemeClr>
                </a:gs>
                <a:gs pos="50000">
                  <a:schemeClr val="dk1">
                    <a:tint val="88500"/>
                    <a:satMod val="110000"/>
                    <a:lumMod val="100000"/>
                    <a:shade val="100000"/>
                  </a:schemeClr>
                </a:gs>
                <a:gs pos="100000">
                  <a:schemeClr val="dk1">
                    <a:tint val="885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-4.5682286531531242E-3"/>
                  <c:y val="-5.72547337943406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B69-4B5E-A768-D5F525ACB713}"/>
                </c:ext>
              </c:extLst>
            </c:dLbl>
            <c:dLbl>
              <c:idx val="1"/>
              <c:layout>
                <c:manualLayout>
                  <c:x val="-4.187494557762547E-17"/>
                  <c:y val="-4.80939763872461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B69-4B5E-A768-D5F525ACB713}"/>
                </c:ext>
              </c:extLst>
            </c:dLbl>
            <c:dLbl>
              <c:idx val="2"/>
              <c:layout>
                <c:manualLayout>
                  <c:x val="4.5682286531530608E-3"/>
                  <c:y val="-0.1030585208298131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B69-4B5E-A768-D5F525ACB713}"/>
                </c:ext>
              </c:extLst>
            </c:dLbl>
            <c:dLbl>
              <c:idx val="3"/>
              <c:layout>
                <c:manualLayout>
                  <c:x val="4.5682286531530192E-3"/>
                  <c:y val="-0.10076833147803956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B69-4B5E-A768-D5F525ACB713}"/>
                </c:ext>
              </c:extLst>
            </c:dLbl>
            <c:dLbl>
              <c:idx val="4"/>
              <c:layout>
                <c:manualLayout>
                  <c:x val="0"/>
                  <c:y val="-7.0995869904982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B69-4B5E-A768-D5F525ACB713}"/>
                </c:ext>
              </c:extLst>
            </c:dLbl>
            <c:dLbl>
              <c:idx val="5"/>
              <c:layout>
                <c:manualLayout>
                  <c:x val="1.1420571632882758E-3"/>
                  <c:y val="-8.01566273120768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B69-4B5E-A768-D5F525ACB713}"/>
                </c:ext>
              </c:extLst>
            </c:dLbl>
            <c:dLbl>
              <c:idx val="6"/>
              <c:layout>
                <c:manualLayout>
                  <c:x val="-3.4261714898648271E-3"/>
                  <c:y val="-3.8933218980151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B69-4B5E-A768-D5F525ACB71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Sheet2!$I$3:$I$10</c:f>
              <c:strCache>
                <c:ptCount val="7"/>
                <c:pt idx="0">
                  <c:v>105</c:v>
                </c:pt>
                <c:pt idx="1">
                  <c:v>110</c:v>
                </c:pt>
                <c:pt idx="2">
                  <c:v>111</c:v>
                </c:pt>
                <c:pt idx="3">
                  <c:v>113</c:v>
                </c:pt>
                <c:pt idx="4">
                  <c:v>117</c:v>
                </c:pt>
                <c:pt idx="5">
                  <c:v>121</c:v>
                </c:pt>
                <c:pt idx="6">
                  <c:v>124</c:v>
                </c:pt>
              </c:strCache>
            </c:strRef>
          </c:cat>
          <c:val>
            <c:numRef>
              <c:f>Sheet2!$J$3:$J$10</c:f>
              <c:numCache>
                <c:formatCode>General</c:formatCode>
                <c:ptCount val="7"/>
                <c:pt idx="0">
                  <c:v>200</c:v>
                </c:pt>
                <c:pt idx="1">
                  <c:v>210</c:v>
                </c:pt>
                <c:pt idx="2">
                  <c:v>180.5</c:v>
                </c:pt>
                <c:pt idx="3">
                  <c:v>155.19999999999999</c:v>
                </c:pt>
                <c:pt idx="4">
                  <c:v>220</c:v>
                </c:pt>
                <c:pt idx="5">
                  <c:v>175</c:v>
                </c:pt>
                <c:pt idx="6">
                  <c:v>210.25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69-4B5E-A768-D5F525ACB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357235280"/>
        <c:axId val="357228560"/>
        <c:axId val="0"/>
      </c:bar3DChart>
      <c:catAx>
        <c:axId val="357235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Order</a:t>
                </a:r>
                <a:r>
                  <a:rPr lang="en-US" sz="1400" b="1" baseline="0" dirty="0"/>
                  <a:t> ID</a:t>
                </a:r>
                <a:endParaRPr lang="en-US" sz="1400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7228560"/>
        <c:crosses val="autoZero"/>
        <c:auto val="1"/>
        <c:lblAlgn val="ctr"/>
        <c:lblOffset val="100"/>
        <c:noMultiLvlLbl val="0"/>
      </c:catAx>
      <c:valAx>
        <c:axId val="35722856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Amount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7235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[projtables.xlsx]Sheet2!PivotTable5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</a:t>
            </a:r>
            <a:r>
              <a:rPr lang="en-US" baseline="0" dirty="0"/>
              <a:t> revenue per City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Sheet2!$F$33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dk1">
                    <a:tint val="88500"/>
                    <a:satMod val="103000"/>
                    <a:lumMod val="102000"/>
                    <a:tint val="94000"/>
                  </a:schemeClr>
                </a:gs>
                <a:gs pos="50000">
                  <a:schemeClr val="dk1">
                    <a:tint val="88500"/>
                    <a:satMod val="110000"/>
                    <a:lumMod val="100000"/>
                    <a:shade val="100000"/>
                  </a:schemeClr>
                </a:gs>
                <a:gs pos="100000">
                  <a:schemeClr val="dk1">
                    <a:tint val="885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Sheet2!$E$34:$E$40</c:f>
              <c:strCache>
                <c:ptCount val="6"/>
                <c:pt idx="0">
                  <c:v>Boston</c:v>
                </c:pt>
                <c:pt idx="1">
                  <c:v>Chicago</c:v>
                </c:pt>
                <c:pt idx="2">
                  <c:v>Houston</c:v>
                </c:pt>
                <c:pt idx="3">
                  <c:v>Miami</c:v>
                </c:pt>
                <c:pt idx="4">
                  <c:v>New York</c:v>
                </c:pt>
                <c:pt idx="5">
                  <c:v>Seattle</c:v>
                </c:pt>
              </c:strCache>
            </c:strRef>
          </c:cat>
          <c:val>
            <c:numRef>
              <c:f>Sheet2!$F$34:$F$40</c:f>
              <c:numCache>
                <c:formatCode>General</c:formatCode>
                <c:ptCount val="6"/>
                <c:pt idx="0">
                  <c:v>182.9</c:v>
                </c:pt>
                <c:pt idx="1">
                  <c:v>236.75</c:v>
                </c:pt>
                <c:pt idx="2">
                  <c:v>1000.74</c:v>
                </c:pt>
                <c:pt idx="3">
                  <c:v>630</c:v>
                </c:pt>
                <c:pt idx="4">
                  <c:v>721.08</c:v>
                </c:pt>
                <c:pt idx="5">
                  <c:v>286.99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8B-4362-9DC1-F5C955FFC7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357241040"/>
        <c:axId val="357242480"/>
        <c:axId val="0"/>
      </c:bar3DChart>
      <c:catAx>
        <c:axId val="3572410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City</a:t>
                </a:r>
                <a:r>
                  <a:rPr lang="en-US" sz="1600" b="1" baseline="0" dirty="0"/>
                  <a:t> </a:t>
                </a:r>
                <a:endParaRPr lang="en-US" sz="1600" b="1" dirty="0"/>
              </a:p>
            </c:rich>
          </c:tx>
          <c:layout>
            <c:manualLayout>
              <c:xMode val="edge"/>
              <c:yMode val="edge"/>
              <c:x val="1.244128179028778E-2"/>
              <c:y val="0.4392174401608777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7242480"/>
        <c:crosses val="autoZero"/>
        <c:auto val="1"/>
        <c:lblAlgn val="ctr"/>
        <c:lblOffset val="100"/>
        <c:noMultiLvlLbl val="0"/>
      </c:catAx>
      <c:valAx>
        <c:axId val="3572424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Total</a:t>
                </a:r>
                <a:r>
                  <a:rPr lang="en-US" sz="1600" b="1" baseline="0" dirty="0"/>
                  <a:t> Revenue</a:t>
                </a:r>
                <a:endParaRPr lang="en-US" sz="1600" b="1" dirty="0"/>
              </a:p>
            </c:rich>
          </c:tx>
          <c:layout>
            <c:manualLayout>
              <c:xMode val="edge"/>
              <c:yMode val="edge"/>
              <c:x val="0.44697224306035643"/>
              <c:y val="0.9274883213547245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724104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[projtables.xlsx]Sheet2!PivotTable6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Monthly</a:t>
            </a:r>
            <a:r>
              <a:rPr lang="en-US" baseline="0" dirty="0"/>
              <a:t> Order Revenue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Sheet2!$F$42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dk1">
                    <a:tint val="88500"/>
                    <a:satMod val="103000"/>
                    <a:lumMod val="102000"/>
                    <a:tint val="94000"/>
                  </a:schemeClr>
                </a:gs>
                <a:gs pos="50000">
                  <a:schemeClr val="dk1">
                    <a:tint val="88500"/>
                    <a:satMod val="110000"/>
                    <a:lumMod val="100000"/>
                    <a:shade val="100000"/>
                  </a:schemeClr>
                </a:gs>
                <a:gs pos="100000">
                  <a:schemeClr val="dk1">
                    <a:tint val="885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0"/>
                  <c:y val="-6.3756869342484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FF2-46F7-92E3-121E3EDF3090}"/>
                </c:ext>
              </c:extLst>
            </c:dLbl>
            <c:dLbl>
              <c:idx val="1"/>
              <c:layout>
                <c:manualLayout>
                  <c:x val="0"/>
                  <c:y val="-4.0143214030453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FF2-46F7-92E3-121E3EDF3090}"/>
                </c:ext>
              </c:extLst>
            </c:dLbl>
            <c:dLbl>
              <c:idx val="2"/>
              <c:layout>
                <c:manualLayout>
                  <c:x val="-4.2899061209782171E-17"/>
                  <c:y val="-4.01432140304530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FF2-46F7-92E3-121E3EDF3090}"/>
                </c:ext>
              </c:extLst>
            </c:dLbl>
            <c:dLbl>
              <c:idx val="3"/>
              <c:layout>
                <c:manualLayout>
                  <c:x val="3.5099637368234717E-3"/>
                  <c:y val="-6.61182348736874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FF2-46F7-92E3-121E3EDF3090}"/>
                </c:ext>
              </c:extLst>
            </c:dLbl>
            <c:dLbl>
              <c:idx val="4"/>
              <c:layout>
                <c:manualLayout>
                  <c:x val="1.1699879122744048E-3"/>
                  <c:y val="-3.77818484992499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F2-46F7-92E3-121E3EDF3090}"/>
                </c:ext>
              </c:extLst>
            </c:dLbl>
            <c:dLbl>
              <c:idx val="5"/>
              <c:layout>
                <c:manualLayout>
                  <c:x val="0"/>
                  <c:y val="-4.72273106240624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FF2-46F7-92E3-121E3EDF3090}"/>
                </c:ext>
              </c:extLst>
            </c:dLbl>
            <c:dLbl>
              <c:idx val="6"/>
              <c:layout>
                <c:manualLayout>
                  <c:x val="0"/>
                  <c:y val="-4.95886761552655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F2-46F7-92E3-121E3EDF3090}"/>
                </c:ext>
              </c:extLst>
            </c:dLbl>
            <c:dLbl>
              <c:idx val="7"/>
              <c:layout>
                <c:manualLayout>
                  <c:x val="-1.1699879122745078E-2"/>
                  <c:y val="-4.72273106240624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FF2-46F7-92E3-121E3EDF3090}"/>
                </c:ext>
              </c:extLst>
            </c:dLbl>
            <c:dLbl>
              <c:idx val="8"/>
              <c:layout>
                <c:manualLayout>
                  <c:x val="-3.5099637368234717E-3"/>
                  <c:y val="-5.667277274887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F2-46F7-92E3-121E3EDF30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Sheet2!$E$43:$E$52</c:f>
              <c:strCache>
                <c:ptCount val="9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  <c:pt idx="6">
                  <c:v>Sep</c:v>
                </c:pt>
                <c:pt idx="7">
                  <c:v>Oct</c:v>
                </c:pt>
                <c:pt idx="8">
                  <c:v>Nov</c:v>
                </c:pt>
              </c:strCache>
            </c:strRef>
          </c:cat>
          <c:val>
            <c:numRef>
              <c:f>Sheet2!$F$43:$F$52</c:f>
              <c:numCache>
                <c:formatCode>General</c:formatCode>
                <c:ptCount val="9"/>
                <c:pt idx="0">
                  <c:v>165.5</c:v>
                </c:pt>
                <c:pt idx="1">
                  <c:v>439.99</c:v>
                </c:pt>
                <c:pt idx="2">
                  <c:v>230.74</c:v>
                </c:pt>
                <c:pt idx="3">
                  <c:v>156.4</c:v>
                </c:pt>
                <c:pt idx="4">
                  <c:v>466.49</c:v>
                </c:pt>
                <c:pt idx="5">
                  <c:v>305.10000000000002</c:v>
                </c:pt>
                <c:pt idx="6">
                  <c:v>403</c:v>
                </c:pt>
                <c:pt idx="7">
                  <c:v>491</c:v>
                </c:pt>
                <c:pt idx="8">
                  <c:v>400.24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F2-46F7-92E3-121E3EDF30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07838192"/>
        <c:axId val="207825232"/>
        <c:axId val="0"/>
      </c:bar3DChart>
      <c:catAx>
        <c:axId val="2078381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825232"/>
        <c:crosses val="autoZero"/>
        <c:auto val="1"/>
        <c:lblAlgn val="ctr"/>
        <c:lblOffset val="100"/>
        <c:noMultiLvlLbl val="0"/>
      </c:catAx>
      <c:valAx>
        <c:axId val="207825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Total</a:t>
                </a:r>
                <a:r>
                  <a:rPr lang="en-US" sz="1600" b="1" baseline="0" dirty="0"/>
                  <a:t> Revenue</a:t>
                </a:r>
                <a:endParaRPr lang="en-US" sz="1600" b="1" dirty="0"/>
              </a:p>
            </c:rich>
          </c:tx>
          <c:layout>
            <c:manualLayout>
              <c:xMode val="edge"/>
              <c:yMode val="edge"/>
              <c:x val="1.3853854506751981E-2"/>
              <c:y val="0.3939110981205018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8381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[projtables.xlsx]Sheet2!PivotTable7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dirty="0"/>
              <a:t>Top</a:t>
            </a:r>
            <a:r>
              <a:rPr lang="en-US" sz="2400" baseline="0" dirty="0"/>
              <a:t> 5 Highest Spent Customers</a:t>
            </a:r>
            <a:endParaRPr lang="en-US" sz="24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Sheet2!$I$33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dk1">
                    <a:tint val="88500"/>
                    <a:satMod val="103000"/>
                    <a:lumMod val="102000"/>
                    <a:tint val="94000"/>
                  </a:schemeClr>
                </a:gs>
                <a:gs pos="50000">
                  <a:schemeClr val="dk1">
                    <a:tint val="88500"/>
                    <a:satMod val="110000"/>
                    <a:lumMod val="100000"/>
                    <a:shade val="100000"/>
                  </a:schemeClr>
                </a:gs>
                <a:gs pos="100000">
                  <a:schemeClr val="dk1">
                    <a:tint val="885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p3d/>
          </c:spPr>
          <c:invertIfNegative val="0"/>
          <c:dLbls>
            <c:dLbl>
              <c:idx val="0"/>
              <c:layout>
                <c:manualLayout>
                  <c:x val="3.4567348354131423E-2"/>
                  <c:y val="-4.846778819347666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BC2-4007-81AA-79AE4D9075FA}"/>
                </c:ext>
              </c:extLst>
            </c:dLbl>
            <c:dLbl>
              <c:idx val="1"/>
              <c:layout>
                <c:manualLayout>
                  <c:x val="2.7653878683305204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BC2-4007-81AA-79AE4D9075FA}"/>
                </c:ext>
              </c:extLst>
            </c:dLbl>
            <c:dLbl>
              <c:idx val="2"/>
              <c:layout>
                <c:manualLayout>
                  <c:x val="1.9588164067341186E-2"/>
                  <c:y val="-7.270168229021366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BC2-4007-81AA-79AE4D9075FA}"/>
                </c:ext>
              </c:extLst>
            </c:dLbl>
            <c:dLbl>
              <c:idx val="3"/>
              <c:layout>
                <c:manualLayout>
                  <c:x val="4.032857307982008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BC2-4007-81AA-79AE4D9075FA}"/>
                </c:ext>
              </c:extLst>
            </c:dLbl>
            <c:dLbl>
              <c:idx val="4"/>
              <c:layout>
                <c:manualLayout>
                  <c:x val="3.3415103408993702E-2"/>
                  <c:y val="4.84677881934757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C2-4007-81AA-79AE4D9075F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Sheet2!$H$34:$H$44</c:f>
              <c:multiLvlStrCache>
                <c:ptCount val="5"/>
                <c:lvl>
                  <c:pt idx="0">
                    <c:v>Alice Brown</c:v>
                  </c:pt>
                  <c:pt idx="1">
                    <c:v>Maria Lopez</c:v>
                  </c:pt>
                  <c:pt idx="2">
                    <c:v>Sarah Miller</c:v>
                  </c:pt>
                  <c:pt idx="3">
                    <c:v>James Taylor</c:v>
                  </c:pt>
                  <c:pt idx="4">
                    <c:v>Noah Walker</c:v>
                  </c:pt>
                </c:lvl>
                <c:lvl>
                  <c:pt idx="0">
                    <c:v>1</c:v>
                  </c:pt>
                  <c:pt idx="1">
                    <c:v>3</c:v>
                  </c:pt>
                  <c:pt idx="2">
                    <c:v>5</c:v>
                  </c:pt>
                  <c:pt idx="3">
                    <c:v>10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Sheet2!$I$34:$I$44</c:f>
              <c:numCache>
                <c:formatCode>General</c:formatCode>
                <c:ptCount val="5"/>
                <c:pt idx="0">
                  <c:v>210.49</c:v>
                </c:pt>
                <c:pt idx="1">
                  <c:v>360.25</c:v>
                </c:pt>
                <c:pt idx="2">
                  <c:v>214.99</c:v>
                </c:pt>
                <c:pt idx="3">
                  <c:v>270.5</c:v>
                </c:pt>
                <c:pt idx="4">
                  <c:v>220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2-4007-81AA-79AE4D9075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107871024"/>
        <c:axId val="2107856624"/>
        <c:axId val="0"/>
      </c:bar3DChart>
      <c:catAx>
        <c:axId val="210787102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 dirty="0"/>
                  <a:t>Customer</a:t>
                </a:r>
                <a:r>
                  <a:rPr lang="en-US" sz="1400" b="1" baseline="0" dirty="0"/>
                  <a:t> ID , Customer Name</a:t>
                </a:r>
                <a:endParaRPr lang="en-US" sz="1400" b="1" dirty="0"/>
              </a:p>
            </c:rich>
          </c:tx>
          <c:layout>
            <c:manualLayout>
              <c:xMode val="edge"/>
              <c:yMode val="edge"/>
              <c:x val="9.948863913702477E-3"/>
              <c:y val="0.240618533992632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7856624"/>
        <c:crosses val="autoZero"/>
        <c:auto val="1"/>
        <c:lblAlgn val="ctr"/>
        <c:lblOffset val="100"/>
        <c:noMultiLvlLbl val="0"/>
      </c:catAx>
      <c:valAx>
        <c:axId val="2107856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 dirty="0"/>
                  <a:t>Total</a:t>
                </a:r>
                <a:r>
                  <a:rPr lang="en-US" sz="1600" b="1" baseline="0" dirty="0"/>
                  <a:t> Spent</a:t>
                </a:r>
                <a:endParaRPr lang="en-US" sz="1600" b="1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787102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pivotSource>
    <c:name>[projtables.xlsx]Sheet2!PivotTable13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 of Orders by Each Customer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dk1">
                  <a:tint val="88500"/>
                  <a:satMod val="103000"/>
                  <a:lumMod val="102000"/>
                  <a:tint val="94000"/>
                </a:schemeClr>
              </a:gs>
              <a:gs pos="50000">
                <a:schemeClr val="dk1">
                  <a:tint val="88500"/>
                  <a:satMod val="110000"/>
                  <a:lumMod val="100000"/>
                  <a:shade val="100000"/>
                </a:schemeClr>
              </a:gs>
              <a:gs pos="100000">
                <a:schemeClr val="dk1">
                  <a:tint val="885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Sheet2!$N$2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dk1">
                    <a:tint val="88500"/>
                    <a:satMod val="103000"/>
                    <a:lumMod val="102000"/>
                    <a:tint val="94000"/>
                  </a:schemeClr>
                </a:gs>
                <a:gs pos="50000">
                  <a:schemeClr val="dk1">
                    <a:tint val="88500"/>
                    <a:satMod val="110000"/>
                    <a:lumMod val="100000"/>
                    <a:shade val="100000"/>
                  </a:schemeClr>
                </a:gs>
                <a:gs pos="100000">
                  <a:schemeClr val="dk1">
                    <a:tint val="885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Sheet2!$L$3:$M$23</c:f>
              <c:multiLvlStrCache>
                <c:ptCount val="20"/>
                <c:lvl>
                  <c:pt idx="0">
                    <c:v>Alice Brown</c:v>
                  </c:pt>
                  <c:pt idx="1">
                    <c:v>David Smith</c:v>
                  </c:pt>
                  <c:pt idx="2">
                    <c:v>Maria Lopez</c:v>
                  </c:pt>
                  <c:pt idx="3">
                    <c:v>John Carter</c:v>
                  </c:pt>
                  <c:pt idx="4">
                    <c:v>Sarah Miller</c:v>
                  </c:pt>
                  <c:pt idx="5">
                    <c:v>Michael Green</c:v>
                  </c:pt>
                  <c:pt idx="6">
                    <c:v>Emma Wilson</c:v>
                  </c:pt>
                  <c:pt idx="7">
                    <c:v>Oliver Jones</c:v>
                  </c:pt>
                  <c:pt idx="8">
                    <c:v>Sophia Davis</c:v>
                  </c:pt>
                  <c:pt idx="9">
                    <c:v>James Taylor</c:v>
                  </c:pt>
                  <c:pt idx="10">
                    <c:v>Isabella Martin</c:v>
                  </c:pt>
                  <c:pt idx="11">
                    <c:v>Lucas Lee</c:v>
                  </c:pt>
                  <c:pt idx="12">
                    <c:v>Mia Harris</c:v>
                  </c:pt>
                  <c:pt idx="13">
                    <c:v>Ethan Clark</c:v>
                  </c:pt>
                  <c:pt idx="14">
                    <c:v>Ava Lewis</c:v>
                  </c:pt>
                  <c:pt idx="15">
                    <c:v>Noah Walker</c:v>
                  </c:pt>
                  <c:pt idx="16">
                    <c:v>Liam Hall</c:v>
                  </c:pt>
                  <c:pt idx="17">
                    <c:v>Charlotte King</c:v>
                  </c:pt>
                  <c:pt idx="18">
                    <c:v>Amelia Scott</c:v>
                  </c:pt>
                  <c:pt idx="19">
                    <c:v>Benjamin Young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</c:lvl>
              </c:multiLvlStrCache>
            </c:multiLvlStrRef>
          </c:cat>
          <c:val>
            <c:numRef>
              <c:f>Sheet2!$N$3:$N$23</c:f>
              <c:numCache>
                <c:formatCode>General</c:formatCode>
                <c:ptCount val="20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2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AD-47D7-97A6-DD5A5CA087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07839632"/>
        <c:axId val="207845872"/>
      </c:barChart>
      <c:catAx>
        <c:axId val="20783963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Customer ID , Customer Name</a:t>
                </a:r>
              </a:p>
            </c:rich>
          </c:tx>
          <c:layout>
            <c:manualLayout>
              <c:xMode val="edge"/>
              <c:yMode val="edge"/>
              <c:x val="2.3294259505754508E-3"/>
              <c:y val="0.256495143023871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3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845872"/>
        <c:crosses val="autoZero"/>
        <c:auto val="1"/>
        <c:lblAlgn val="ctr"/>
        <c:lblOffset val="100"/>
        <c:noMultiLvlLbl val="0"/>
      </c:catAx>
      <c:valAx>
        <c:axId val="207845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600" b="1"/>
                  <a:t>No . of Orders</a:t>
                </a:r>
              </a:p>
            </c:rich>
          </c:tx>
          <c:layout>
            <c:manualLayout>
              <c:xMode val="edge"/>
              <c:yMode val="edge"/>
              <c:x val="0.49601714017293147"/>
              <c:y val="0.950016058355747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839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4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F9001-8491-D4B4-E414-5C2598C52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BF2AE-A1FD-7BDB-7733-A553CCDD74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D51FD-75E2-A826-173B-A47A10EED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4521D-4E8B-C4BF-BC39-BE3E7F4D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F62D8-038D-E4BD-0954-3383EF1D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1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899-399A-DF0B-4543-3422B241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B9C04-D0E9-27EF-A102-37A0E48A7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358E8-62EB-662E-D68C-31E96AA35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B5D82-21DD-8EFA-6754-B3346A5BE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26E8E-68A7-0438-C806-4D9D04CD8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41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6CFC0-72E8-0743-2AC9-6D8CF42A1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19A1D1-C7EC-00EC-B640-C223571DB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6EF94-729B-7820-CD7A-9CE21A660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A4AD8-CC7A-39BC-3C1D-62266E46C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FFE9-5743-0F75-D3E0-9DBF7F45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5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1D8F7-90A0-D9F0-A693-D57BAE72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C3906-A909-9B80-79E8-679ED5CC0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40B24-F4BB-5E25-37EF-186F059A1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6EBDE-CCFD-08B3-262A-C768AAB4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135D1-A3D6-D46B-D5F0-91F8AB62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5A761-730B-5591-730D-28BD09EC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63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9F3C-8E82-6BB9-56B8-B349983A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09758-C71B-B353-9199-D29B7CD4F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54B44-A1DB-41AF-2887-2591EF5AE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C4513-E754-CD1B-A147-B906610A00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5D178F-1FDC-0BC4-D1FB-F5272A688C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D58A01-408E-EA21-EFAB-C3F19070D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59B359-3813-8147-6AD4-10830593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79B1DB-9FA0-8F29-040D-0978CD05F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6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853CE-24D8-EEC0-0A87-48F7234E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8875C-41AC-35D8-BF6F-6A1F1FE5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61E9CE-8B87-38F6-CE29-E2EBEDD90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22F08E-CBB0-AD7C-2064-BFE0E617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3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EBF586-9304-F75C-BF78-948F571A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43DC9-E0AE-71A8-F3EF-7B2F1A8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1445F-0632-C5C8-362D-79A50F775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A7AC45-1D6F-AABF-4B12-2AC1BC8B89F0}"/>
              </a:ext>
            </a:extLst>
          </p:cNvPr>
          <p:cNvSpPr/>
          <p:nvPr userDrawn="1"/>
        </p:nvSpPr>
        <p:spPr>
          <a:xfrm>
            <a:off x="0" y="-1"/>
            <a:ext cx="12192000" cy="2401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CF56BB-E96C-147C-4DA7-16D5BBCE360E}"/>
              </a:ext>
            </a:extLst>
          </p:cNvPr>
          <p:cNvSpPr/>
          <p:nvPr userDrawn="1"/>
        </p:nvSpPr>
        <p:spPr>
          <a:xfrm>
            <a:off x="0" y="6617855"/>
            <a:ext cx="12192000" cy="24014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BB5CC7-B90A-9959-186C-72B90C41A30D}"/>
              </a:ext>
            </a:extLst>
          </p:cNvPr>
          <p:cNvSpPr/>
          <p:nvPr userDrawn="1"/>
        </p:nvSpPr>
        <p:spPr>
          <a:xfrm>
            <a:off x="-1" y="-2"/>
            <a:ext cx="240145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A36078-1C8E-6F70-B27A-AB680BC9E166}"/>
              </a:ext>
            </a:extLst>
          </p:cNvPr>
          <p:cNvSpPr/>
          <p:nvPr userDrawn="1"/>
        </p:nvSpPr>
        <p:spPr>
          <a:xfrm>
            <a:off x="11970326" y="0"/>
            <a:ext cx="240145" cy="685800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6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5503C-9609-8585-CCBE-DEE09D6B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1480D-ADB5-B803-C77A-3FF806F35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0ACD14-39C6-53C7-4260-FE1B68D4B5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12D18C-9319-0545-4BBC-395C1145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EDD7A-C525-DA5C-3807-E7E656F9A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6921D-9420-76C6-73B7-884E6306E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0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25FB-5F18-BE25-BAD6-6AD261CF0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ABCA3-A691-1FAF-5BEF-3F31A4BD3F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CCE88-9D5B-FB25-006D-6D2544BB7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A0385-8757-488D-ED16-64BFACAB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F3D32-3B6E-527C-CA04-6FF900B7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060BD-E40E-E967-6779-FF23DBC3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85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C9C22-41EC-80A9-2206-ED257470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8CF5E2-5B84-67F1-4D13-49C4CC6A59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62187-6434-31A8-1959-4D3725122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4A529-FBAD-AE73-35C4-16EA049F4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02CCB-DF33-B761-3496-D309D825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070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6BBBB-A898-8FB9-C50D-B6259C23B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3A0C7-10D2-8E28-26A8-9D6075A28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F6F0A-30B6-E661-D2EE-306A57824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82B61-0F05-D3F3-F68B-90F21C31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D7320-BCD2-3A0E-6103-80A56F477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70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F54721-D50B-5054-2898-89C4F2A61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FCE02-412D-D024-7F04-F316835B1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F93A0-927C-FE4E-20E6-81EE245747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DAE741-02EE-45AC-BC89-614BA22DD2AB}" type="datetimeFigureOut">
              <a:rPr lang="en-US" smtClean="0"/>
              <a:t>11-Feb-26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3ABCC-47F4-D230-539B-BD8F26214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AFCB0-9BBA-9358-1098-D1D6F6C86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EEF39-E252-4B75-9EB6-F91F055E1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8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506067-EA48-5324-F5C9-9D5EEAD6EC28}"/>
              </a:ext>
            </a:extLst>
          </p:cNvPr>
          <p:cNvSpPr/>
          <p:nvPr/>
        </p:nvSpPr>
        <p:spPr>
          <a:xfrm>
            <a:off x="501445" y="570271"/>
            <a:ext cx="11149782" cy="577153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b="1" dirty="0">
                <a:solidFill>
                  <a:schemeClr val="bg2">
                    <a:lumMod val="75000"/>
                  </a:schemeClr>
                </a:solidFill>
              </a:rPr>
              <a:t>CUSTOMER </a:t>
            </a:r>
          </a:p>
          <a:p>
            <a:pPr algn="ctr"/>
            <a:r>
              <a:rPr lang="en-US" sz="7200" b="1" dirty="0">
                <a:solidFill>
                  <a:schemeClr val="bg2">
                    <a:lumMod val="75000"/>
                  </a:schemeClr>
                </a:solidFill>
              </a:rPr>
              <a:t>AND </a:t>
            </a:r>
          </a:p>
          <a:p>
            <a:pPr algn="ctr"/>
            <a:r>
              <a:rPr lang="en-US" sz="7200" b="1" dirty="0">
                <a:solidFill>
                  <a:schemeClr val="bg2">
                    <a:lumMod val="75000"/>
                  </a:schemeClr>
                </a:solidFill>
              </a:rPr>
              <a:t>ORDER MANAGEMENT </a:t>
            </a:r>
          </a:p>
          <a:p>
            <a:pPr algn="ctr"/>
            <a:r>
              <a:rPr lang="en-US" sz="7200" b="1" dirty="0">
                <a:solidFill>
                  <a:schemeClr val="bg2">
                    <a:lumMod val="75000"/>
                  </a:schemeClr>
                </a:solidFill>
              </a:rPr>
              <a:t>ANALYSIS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 </a:t>
            </a:r>
          </a:p>
          <a:p>
            <a:pPr algn="ctr"/>
            <a:endParaRPr lang="en-US" b="1" dirty="0">
              <a:solidFill>
                <a:schemeClr val="bg2">
                  <a:lumMod val="75000"/>
                </a:schemeClr>
              </a:solidFill>
            </a:endParaRPr>
          </a:p>
          <a:p>
            <a:pPr algn="ctr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                                                  BY </a:t>
            </a:r>
          </a:p>
          <a:p>
            <a:pPr algn="r"/>
            <a:r>
              <a:rPr lang="en-US" sz="3600" b="1" dirty="0">
                <a:solidFill>
                  <a:schemeClr val="bg2">
                    <a:lumMod val="75000"/>
                  </a:schemeClr>
                </a:solidFill>
              </a:rPr>
              <a:t>INDIRA PRIYA DHARSHINI JYOTHI</a:t>
            </a:r>
          </a:p>
        </p:txBody>
      </p:sp>
    </p:spTree>
    <p:extLst>
      <p:ext uri="{BB962C8B-B14F-4D97-AF65-F5344CB8AC3E}">
        <p14:creationId xmlns:p14="http://schemas.microsoft.com/office/powerpoint/2010/main" val="69585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F46166-D57A-DBCF-3B83-AA1725417CA1}"/>
              </a:ext>
            </a:extLst>
          </p:cNvPr>
          <p:cNvSpPr txBox="1"/>
          <p:nvPr/>
        </p:nvSpPr>
        <p:spPr>
          <a:xfrm>
            <a:off x="894735" y="40803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1. List all customers.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6D92C2-E528-D359-587A-409D0FD28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2" y="992814"/>
            <a:ext cx="5348748" cy="5847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9F5205-6930-8414-3D13-2DDD887BC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631" y="1591180"/>
            <a:ext cx="6990737" cy="48723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C867ED82-EF12-363A-F802-60CDCCE5ECB7}"/>
              </a:ext>
            </a:extLst>
          </p:cNvPr>
          <p:cNvSpPr/>
          <p:nvPr/>
        </p:nvSpPr>
        <p:spPr>
          <a:xfrm>
            <a:off x="407383" y="1577590"/>
            <a:ext cx="1889760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chemeClr val="bg1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478757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A1B20FF4-5A37-5520-A1E6-587AF664125B}"/>
              </a:ext>
            </a:extLst>
          </p:cNvPr>
          <p:cNvSpPr/>
          <p:nvPr/>
        </p:nvSpPr>
        <p:spPr>
          <a:xfrm>
            <a:off x="983227" y="658434"/>
            <a:ext cx="10274708" cy="5594553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The customer table shows a well-distributed signup pattern across months.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Multiple customers joined within short intervals, showing steady onboarding.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Customer diversity supports balanced analytics across the dataset.</a:t>
            </a:r>
          </a:p>
        </p:txBody>
      </p:sp>
    </p:spTree>
    <p:extLst>
      <p:ext uri="{BB962C8B-B14F-4D97-AF65-F5344CB8AC3E}">
        <p14:creationId xmlns:p14="http://schemas.microsoft.com/office/powerpoint/2010/main" val="99761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5282CB-DDF0-E500-00A0-7FEED5CED448}"/>
              </a:ext>
            </a:extLst>
          </p:cNvPr>
          <p:cNvSpPr txBox="1"/>
          <p:nvPr/>
        </p:nvSpPr>
        <p:spPr>
          <a:xfrm>
            <a:off x="538480" y="37629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00695C"/>
                </a:highlight>
              </a:rPr>
              <a:t> </a:t>
            </a:r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2. List all orders.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1EAE6-5294-F760-C8A7-F038916AC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25" y="998119"/>
            <a:ext cx="5639575" cy="632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6C764A-AADC-FA0E-E4BD-CCA40B1FB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240" y="1625598"/>
            <a:ext cx="7010399" cy="49174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B4004303-5AD2-FA6B-86E9-2E20FC97E25D}"/>
              </a:ext>
            </a:extLst>
          </p:cNvPr>
          <p:cNvSpPr/>
          <p:nvPr/>
        </p:nvSpPr>
        <p:spPr>
          <a:xfrm>
            <a:off x="538480" y="1625597"/>
            <a:ext cx="1889760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chemeClr val="bg1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264863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49589281-1319-CAFF-28F6-53912844ACB4}"/>
              </a:ext>
            </a:extLst>
          </p:cNvPr>
          <p:cNvSpPr/>
          <p:nvPr/>
        </p:nvSpPr>
        <p:spPr>
          <a:xfrm>
            <a:off x="894080" y="660400"/>
            <a:ext cx="10474960" cy="564896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Orders vary significantly in amount, indicating mixed spending behaviors.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Order dates span across different months, showing repeated business activity.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Some customers contribute multiple orders, while others contribute only one.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880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ADB13D-6602-CE40-A3AA-9AAA18ACA455}"/>
              </a:ext>
            </a:extLst>
          </p:cNvPr>
          <p:cNvSpPr txBox="1"/>
          <p:nvPr/>
        </p:nvSpPr>
        <p:spPr>
          <a:xfrm>
            <a:off x="436880" y="57017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3. Find customers from New York.</a:t>
            </a:r>
            <a:endParaRPr lang="en-US" sz="2400" b="1" dirty="0">
              <a:solidFill>
                <a:schemeClr val="bg1"/>
              </a:solidFill>
              <a:highlight>
                <a:srgbClr val="00695C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6352D-D938-A307-BEA9-B706D19FE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040" y="1226193"/>
            <a:ext cx="4983856" cy="905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F117CD-5DC6-7112-37EB-39CD1468A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141" y="2463127"/>
            <a:ext cx="5360547" cy="33629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C4B7EDE-58EC-46F0-2570-1C5C508E06F5}"/>
              </a:ext>
            </a:extLst>
          </p:cNvPr>
          <p:cNvSpPr/>
          <p:nvPr/>
        </p:nvSpPr>
        <p:spPr>
          <a:xfrm>
            <a:off x="7836309" y="1361513"/>
            <a:ext cx="4056462" cy="476398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sz="2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2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It shows whether those customers actively made purchases or not.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Comparing with the orders table reveals their spending contribution.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D7EAF0E-3C8E-75B4-C1B2-9496DA5D315D}"/>
              </a:ext>
            </a:extLst>
          </p:cNvPr>
          <p:cNvSpPr/>
          <p:nvPr/>
        </p:nvSpPr>
        <p:spPr>
          <a:xfrm>
            <a:off x="436880" y="2203409"/>
            <a:ext cx="1647559" cy="1362824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chemeClr val="bg1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1835085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07219-F276-EFB9-7145-E364D95E80D5}"/>
              </a:ext>
            </a:extLst>
          </p:cNvPr>
          <p:cNvSpPr txBox="1"/>
          <p:nvPr/>
        </p:nvSpPr>
        <p:spPr>
          <a:xfrm>
            <a:off x="668594" y="43047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highlight>
                  <a:srgbClr val="00695C"/>
                </a:highlight>
              </a:rPr>
              <a:t> </a:t>
            </a:r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4. Count customers per city.</a:t>
            </a:r>
            <a:endParaRPr lang="en-US" sz="2800" b="1" dirty="0">
              <a:solidFill>
                <a:schemeClr val="bg1"/>
              </a:solidFill>
              <a:highlight>
                <a:srgbClr val="00695C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30FA6B-3DA5-70BF-F957-F7C9728E1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14" y="1330889"/>
            <a:ext cx="6921592" cy="6938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2019DF-B5F6-8F75-F409-2576D6B87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377" y="2464027"/>
            <a:ext cx="4513007" cy="36929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163631E-1FB2-F23C-2CED-DBB1BA27621E}"/>
              </a:ext>
            </a:extLst>
          </p:cNvPr>
          <p:cNvSpPr/>
          <p:nvPr/>
        </p:nvSpPr>
        <p:spPr>
          <a:xfrm>
            <a:off x="7561006" y="717755"/>
            <a:ext cx="4163634" cy="543920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Higher customer count often correlates with higher total orders.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This distribution helps understand how customer base affects revenue patterns.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913C0BB-A391-FADC-0213-5A7774C90CD5}"/>
              </a:ext>
            </a:extLst>
          </p:cNvPr>
          <p:cNvSpPr/>
          <p:nvPr/>
        </p:nvSpPr>
        <p:spPr>
          <a:xfrm>
            <a:off x="387718" y="2382520"/>
            <a:ext cx="1889760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chemeClr val="bg1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3819283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897C35-0834-B8F5-01E9-D2C0D10853AF}"/>
              </a:ext>
            </a:extLst>
          </p:cNvPr>
          <p:cNvSpPr txBox="1"/>
          <p:nvPr/>
        </p:nvSpPr>
        <p:spPr>
          <a:xfrm>
            <a:off x="696204" y="5966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5. Total revenue generated.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7E3D1-F479-5CDF-0C8B-B7494043F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977" y="1541445"/>
            <a:ext cx="5396023" cy="6428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E8806B-56BB-C92E-ECAA-7F0A8E090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037" y="2872545"/>
            <a:ext cx="3821030" cy="28458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0AC7EDD-F38C-04C5-D50E-B8B935C21611}"/>
              </a:ext>
            </a:extLst>
          </p:cNvPr>
          <p:cNvSpPr/>
          <p:nvPr/>
        </p:nvSpPr>
        <p:spPr>
          <a:xfrm>
            <a:off x="7700410" y="1181470"/>
            <a:ext cx="3898274" cy="4759983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High-value orders significantly boost overall revenue.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The mix of small and large orders creates a balanced revenue curve.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F9753C1-6107-7841-F346-56A452C91991}"/>
              </a:ext>
            </a:extLst>
          </p:cNvPr>
          <p:cNvSpPr/>
          <p:nvPr/>
        </p:nvSpPr>
        <p:spPr>
          <a:xfrm>
            <a:off x="547814" y="2872545"/>
            <a:ext cx="1889760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chemeClr val="bg1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3482509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900F8-87D2-16A4-6387-2A05B3B98BB4}"/>
              </a:ext>
            </a:extLst>
          </p:cNvPr>
          <p:cNvSpPr txBox="1"/>
          <p:nvPr/>
        </p:nvSpPr>
        <p:spPr>
          <a:xfrm>
            <a:off x="698090" y="56348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6. Average order value.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772D90-150B-EEC9-9049-118C9C465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70" y="1627778"/>
            <a:ext cx="5425521" cy="803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EA19A1-90C6-29E8-D951-614BF26F0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724" y="3245046"/>
            <a:ext cx="3769360" cy="15646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A533850-C17E-3FFA-0B95-841EA4FCFF93}"/>
              </a:ext>
            </a:extLst>
          </p:cNvPr>
          <p:cNvSpPr/>
          <p:nvPr/>
        </p:nvSpPr>
        <p:spPr>
          <a:xfrm>
            <a:off x="7043174" y="1052053"/>
            <a:ext cx="4598219" cy="4910096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Average order value reflects both frequent small purchases and occasional large ones.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Helps compare customer behavior between light spenders and premium spenders.</a:t>
            </a:r>
          </a:p>
          <a:p>
            <a:pPr algn="ctr"/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CB76994-86D7-812E-7040-3D9BDA288492}"/>
              </a:ext>
            </a:extLst>
          </p:cNvPr>
          <p:cNvSpPr/>
          <p:nvPr/>
        </p:nvSpPr>
        <p:spPr>
          <a:xfrm>
            <a:off x="436880" y="2980886"/>
            <a:ext cx="1889760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300" dirty="0">
                <a:solidFill>
                  <a:schemeClr val="bg1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202607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5BE1D8-FFEA-2C2B-17AE-A7F289FCB733}"/>
              </a:ext>
            </a:extLst>
          </p:cNvPr>
          <p:cNvSpPr txBox="1"/>
          <p:nvPr/>
        </p:nvSpPr>
        <p:spPr>
          <a:xfrm>
            <a:off x="557726" y="58501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7. Total spending per customer.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77B370-955E-42EB-7047-82F446463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26" y="1910081"/>
            <a:ext cx="5484909" cy="2861186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E0762E6F-FE9D-4503-877D-083A319FA702}"/>
              </a:ext>
            </a:extLst>
          </p:cNvPr>
          <p:cNvSpPr/>
          <p:nvPr/>
        </p:nvSpPr>
        <p:spPr>
          <a:xfrm>
            <a:off x="6858000" y="1327355"/>
            <a:ext cx="4724400" cy="4728006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</a:rPr>
              <a:t>This comparison clearly separates high-value and low-value customer groups with repeated orders and high contribution ,less order and least contribution to the revenue.</a:t>
            </a:r>
          </a:p>
        </p:txBody>
      </p:sp>
    </p:spTree>
    <p:extLst>
      <p:ext uri="{BB962C8B-B14F-4D97-AF65-F5344CB8AC3E}">
        <p14:creationId xmlns:p14="http://schemas.microsoft.com/office/powerpoint/2010/main" val="3485690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91638B-3CBB-FB2B-325A-A0B7EB226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914" y="479322"/>
            <a:ext cx="5656171" cy="58993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B2A55BB6-C604-313D-34B8-D07BDF595944}"/>
              </a:ext>
            </a:extLst>
          </p:cNvPr>
          <p:cNvSpPr/>
          <p:nvPr/>
        </p:nvSpPr>
        <p:spPr>
          <a:xfrm>
            <a:off x="549951" y="320859"/>
            <a:ext cx="2360397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373469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A83B81C-847E-32F6-A0F7-82C0293061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7368939"/>
              </p:ext>
            </p:extLst>
          </p:nvPr>
        </p:nvGraphicFramePr>
        <p:xfrm>
          <a:off x="609600" y="887046"/>
          <a:ext cx="10972800" cy="561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D9CA74A-6B10-0026-F8D9-082E12452B43}"/>
              </a:ext>
            </a:extLst>
          </p:cNvPr>
          <p:cNvSpPr/>
          <p:nvPr/>
        </p:nvSpPr>
        <p:spPr>
          <a:xfrm>
            <a:off x="3276600" y="352474"/>
            <a:ext cx="5638800" cy="4470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788123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48FF11-0F27-703E-499C-5CB221F83A67}"/>
              </a:ext>
            </a:extLst>
          </p:cNvPr>
          <p:cNvSpPr txBox="1"/>
          <p:nvPr/>
        </p:nvSpPr>
        <p:spPr>
          <a:xfrm>
            <a:off x="675476" y="4272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8. Customers with no orders.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F2F3BD-D010-E3AF-ADA9-EE320F2B0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76" y="1247645"/>
            <a:ext cx="6095999" cy="29828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EB1C4E-ABF0-AFC2-6699-3E2908E0C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640" y="4466134"/>
            <a:ext cx="3962400" cy="1802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C3E6E642-3B49-CED5-E828-1811FB9D4691}"/>
              </a:ext>
            </a:extLst>
          </p:cNvPr>
          <p:cNvSpPr/>
          <p:nvPr/>
        </p:nvSpPr>
        <p:spPr>
          <a:xfrm>
            <a:off x="396240" y="4230493"/>
            <a:ext cx="1806186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>
                <a:solidFill>
                  <a:schemeClr val="bg1"/>
                </a:solidFill>
              </a:rPr>
              <a:t>Result Table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37EEB1-DEED-39FF-FBDF-AED4E95A4868}"/>
              </a:ext>
            </a:extLst>
          </p:cNvPr>
          <p:cNvSpPr/>
          <p:nvPr/>
        </p:nvSpPr>
        <p:spPr>
          <a:xfrm>
            <a:off x="7162800" y="1686560"/>
            <a:ext cx="4450080" cy="413512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These customers signed up but never made a purchase.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Their inactivity highlights missed revenue opportunities.</a:t>
            </a:r>
          </a:p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267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B34C4-8BD9-7603-99C3-A13364385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34" y="1414206"/>
            <a:ext cx="5405202" cy="14533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59C1E9-6C09-6CB5-AAB4-DD37DA3B7C4C}"/>
              </a:ext>
            </a:extLst>
          </p:cNvPr>
          <p:cNvSpPr txBox="1"/>
          <p:nvPr/>
        </p:nvSpPr>
        <p:spPr>
          <a:xfrm>
            <a:off x="501446" y="452385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9. Orders made in October.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BE7111-2589-CEBF-1071-2B05E63F1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571" y="3429000"/>
            <a:ext cx="4998720" cy="28934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BF5E363-1310-F51D-0931-EB316A3647B9}"/>
              </a:ext>
            </a:extLst>
          </p:cNvPr>
          <p:cNvSpPr/>
          <p:nvPr/>
        </p:nvSpPr>
        <p:spPr>
          <a:xfrm>
            <a:off x="314960" y="3244644"/>
            <a:ext cx="1930400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>
                <a:solidFill>
                  <a:schemeClr val="bg1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F68FCE8-7C4A-DB34-6BFE-FD659872A31D}"/>
              </a:ext>
            </a:extLst>
          </p:cNvPr>
          <p:cNvSpPr/>
          <p:nvPr/>
        </p:nvSpPr>
        <p:spPr>
          <a:xfrm>
            <a:off x="7590502" y="1037160"/>
            <a:ext cx="4022377" cy="478452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Monthly filtering highlights customer activity during that period.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It shows whether the month had high or low business.</a:t>
            </a:r>
          </a:p>
        </p:txBody>
      </p:sp>
    </p:spTree>
    <p:extLst>
      <p:ext uri="{BB962C8B-B14F-4D97-AF65-F5344CB8AC3E}">
        <p14:creationId xmlns:p14="http://schemas.microsoft.com/office/powerpoint/2010/main" val="843989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D214E4C-C963-5FD1-7C37-D1BEB181A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3746606"/>
              </p:ext>
            </p:extLst>
          </p:nvPr>
        </p:nvGraphicFramePr>
        <p:xfrm>
          <a:off x="1043354" y="1008185"/>
          <a:ext cx="10105292" cy="53926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3908ACE-D9C6-BC54-5F76-D4B295E6AC7C}"/>
              </a:ext>
            </a:extLst>
          </p:cNvPr>
          <p:cNvSpPr/>
          <p:nvPr/>
        </p:nvSpPr>
        <p:spPr>
          <a:xfrm>
            <a:off x="3276600" y="352474"/>
            <a:ext cx="5638800" cy="4470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4159931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430093-6CE9-28ED-3764-62FAEB5D1422}"/>
              </a:ext>
            </a:extLst>
          </p:cNvPr>
          <p:cNvSpPr txBox="1"/>
          <p:nvPr/>
        </p:nvSpPr>
        <p:spPr>
          <a:xfrm>
            <a:off x="696958" y="576415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10. Highest order amount.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7FF4AE-5290-7CE3-7301-1013BE91B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85" y="1369959"/>
            <a:ext cx="4575099" cy="1858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D749D2-886B-A174-0B3B-2881AE3BB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4748" y="3754120"/>
            <a:ext cx="4139381" cy="18582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582F455B-928D-F1B1-10DB-1647F6459A74}"/>
              </a:ext>
            </a:extLst>
          </p:cNvPr>
          <p:cNvSpPr/>
          <p:nvPr/>
        </p:nvSpPr>
        <p:spPr>
          <a:xfrm>
            <a:off x="496529" y="3474877"/>
            <a:ext cx="1930400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7A36B0-F230-482D-CAD1-8D91292C5F1A}"/>
              </a:ext>
            </a:extLst>
          </p:cNvPr>
          <p:cNvSpPr/>
          <p:nvPr/>
        </p:nvSpPr>
        <p:spPr>
          <a:xfrm>
            <a:off x="7162800" y="1686560"/>
            <a:ext cx="4450080" cy="413512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The largest order stands out clearly compared to the rest.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It significantly influences total revenue and average order value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D3BF66C-2CDE-BC00-9F94-4032022D3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3631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D33DEB-290D-1A07-E348-9AFC7E63F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62" y="1736842"/>
            <a:ext cx="6803568" cy="33843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2B1421-FFFD-A4BA-7AAC-3A9FE5EB6FE1}"/>
              </a:ext>
            </a:extLst>
          </p:cNvPr>
          <p:cNvSpPr txBox="1"/>
          <p:nvPr/>
        </p:nvSpPr>
        <p:spPr>
          <a:xfrm>
            <a:off x="494262" y="584545"/>
            <a:ext cx="87995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11. Customers who spent more than 200 total.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4412EC0-5DCA-7FAC-11F5-0C3144B56DEC}"/>
              </a:ext>
            </a:extLst>
          </p:cNvPr>
          <p:cNvSpPr/>
          <p:nvPr/>
        </p:nvSpPr>
        <p:spPr>
          <a:xfrm>
            <a:off x="7297830" y="1615440"/>
            <a:ext cx="4450080" cy="413512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These customers form the premium spending group.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Their contributions make up a major percentage of total revenue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4C1D6E-70D3-2C8A-82BE-81E361D07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8306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2B83A1-D6AB-5DB2-46E1-5C3CA41A8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16" y="1238865"/>
            <a:ext cx="5860026" cy="46014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0B10D679-CCD0-D13D-9054-117239465857}"/>
              </a:ext>
            </a:extLst>
          </p:cNvPr>
          <p:cNvSpPr/>
          <p:nvPr/>
        </p:nvSpPr>
        <p:spPr>
          <a:xfrm>
            <a:off x="487680" y="1100884"/>
            <a:ext cx="1930400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2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3779648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81FAEDC-139D-C004-71F9-C982F8CAC4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4825178"/>
              </p:ext>
            </p:extLst>
          </p:nvPr>
        </p:nvGraphicFramePr>
        <p:xfrm>
          <a:off x="363415" y="1055077"/>
          <a:ext cx="11383107" cy="5521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E2654CC-112F-7031-0F3B-E22CB088FAB8}"/>
              </a:ext>
            </a:extLst>
          </p:cNvPr>
          <p:cNvSpPr/>
          <p:nvPr/>
        </p:nvSpPr>
        <p:spPr>
          <a:xfrm>
            <a:off x="3276600" y="352474"/>
            <a:ext cx="5638800" cy="4470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611890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D80825-D770-33E5-2E38-AA5619503BB2}"/>
              </a:ext>
            </a:extLst>
          </p:cNvPr>
          <p:cNvSpPr txBox="1"/>
          <p:nvPr/>
        </p:nvSpPr>
        <p:spPr>
          <a:xfrm>
            <a:off x="412953" y="471537"/>
            <a:ext cx="69366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12. Number of orders per customer.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B60137-B4DE-6DCF-713C-469A608D4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3" y="1288354"/>
            <a:ext cx="6936659" cy="3893574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814BC65-6272-4A2B-7863-2C9E9B32B212}"/>
              </a:ext>
            </a:extLst>
          </p:cNvPr>
          <p:cNvSpPr/>
          <p:nvPr/>
        </p:nvSpPr>
        <p:spPr>
          <a:xfrm>
            <a:off x="7297830" y="1615440"/>
            <a:ext cx="4450080" cy="413512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</a:rPr>
              <a:t>This analysis helps categorize customers into frequent and infrequent buyers.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</a:rPr>
              <a:t>Some customers place multiple orders, Others place only one order.</a:t>
            </a:r>
            <a:endParaRPr lang="en-US" alt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815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E6839E-4352-002D-77EE-2FF4E820E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5096" y="715297"/>
            <a:ext cx="6892413" cy="54274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5F47D52-73D4-6BBF-1CC3-394EF4FA790D}"/>
              </a:ext>
            </a:extLst>
          </p:cNvPr>
          <p:cNvSpPr/>
          <p:nvPr/>
        </p:nvSpPr>
        <p:spPr>
          <a:xfrm>
            <a:off x="487681" y="422458"/>
            <a:ext cx="2117868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2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1140196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3DCD70-9F5F-1197-6C36-17620123E3F0}"/>
              </a:ext>
            </a:extLst>
          </p:cNvPr>
          <p:cNvSpPr txBox="1"/>
          <p:nvPr/>
        </p:nvSpPr>
        <p:spPr>
          <a:xfrm>
            <a:off x="648929" y="516437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13. Orders over $150.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29755A-060D-77A4-DC06-B7091B60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67" y="1386348"/>
            <a:ext cx="6002594" cy="904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C255AE-E33F-C391-5099-A356F16BF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513" y="2743200"/>
            <a:ext cx="4092662" cy="3264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6A6B0E62-84B3-7CAC-1E99-9358E9FD3408}"/>
              </a:ext>
            </a:extLst>
          </p:cNvPr>
          <p:cNvSpPr/>
          <p:nvPr/>
        </p:nvSpPr>
        <p:spPr>
          <a:xfrm>
            <a:off x="386079" y="2743200"/>
            <a:ext cx="2162113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6E7389-2322-ACE4-0C4E-3CECCA250F2B}"/>
              </a:ext>
            </a:extLst>
          </p:cNvPr>
          <p:cNvSpPr/>
          <p:nvPr/>
        </p:nvSpPr>
        <p:spPr>
          <a:xfrm>
            <a:off x="7297830" y="1615440"/>
            <a:ext cx="4450080" cy="439207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</a:rPr>
              <a:t>High-value orders contribute disproportionately to total revenue.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</a:rPr>
              <a:t>Comparing both tables shows which customers are high-value buyers.</a:t>
            </a:r>
            <a:endParaRPr lang="en-US" alt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7372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28D082B-386E-079D-2112-05F8494B82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294744"/>
              </p:ext>
            </p:extLst>
          </p:nvPr>
        </p:nvGraphicFramePr>
        <p:xfrm>
          <a:off x="491613" y="983226"/>
          <a:ext cx="11120284" cy="5545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80A48D9-EEFA-2674-ED77-5B939F4851D4}"/>
              </a:ext>
            </a:extLst>
          </p:cNvPr>
          <p:cNvSpPr/>
          <p:nvPr/>
        </p:nvSpPr>
        <p:spPr>
          <a:xfrm>
            <a:off x="3276600" y="352474"/>
            <a:ext cx="5638800" cy="4470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790107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BF7A58-4355-65D3-1F67-A264DCDC19EA}"/>
              </a:ext>
            </a:extLst>
          </p:cNvPr>
          <p:cNvSpPr txBox="1"/>
          <p:nvPr/>
        </p:nvSpPr>
        <p:spPr>
          <a:xfrm>
            <a:off x="386079" y="402320"/>
            <a:ext cx="64352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14. First 5 customers by signup date.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551FA-7154-B671-7533-4C7F5B8EB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96" y="1354856"/>
            <a:ext cx="5818004" cy="19271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BEB893-E003-E943-202D-9C64867AD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320" y="3649739"/>
            <a:ext cx="5496232" cy="26638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75B64903-9DF2-8465-57B9-C600B1B00B8C}"/>
              </a:ext>
            </a:extLst>
          </p:cNvPr>
          <p:cNvSpPr/>
          <p:nvPr/>
        </p:nvSpPr>
        <p:spPr>
          <a:xfrm>
            <a:off x="386079" y="3649739"/>
            <a:ext cx="1920241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A88C5F8-F224-8AD1-D7FE-ACBB290F84B0}"/>
              </a:ext>
            </a:extLst>
          </p:cNvPr>
          <p:cNvSpPr/>
          <p:nvPr/>
        </p:nvSpPr>
        <p:spPr>
          <a:xfrm>
            <a:off x="7913985" y="1494504"/>
            <a:ext cx="3891936" cy="4935794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Early customers often have stronger long-term engagement.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Their purchasing pattern reveals how early adoption affects spending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5352795-6FFE-194F-49C9-EB11776F9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1789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5983B7-3B69-A702-0874-57B370D9C20B}"/>
              </a:ext>
            </a:extLst>
          </p:cNvPr>
          <p:cNvSpPr txBox="1"/>
          <p:nvPr/>
        </p:nvSpPr>
        <p:spPr>
          <a:xfrm>
            <a:off x="397224" y="498487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highlight>
                  <a:srgbClr val="00695C"/>
                </a:highlight>
              </a:rPr>
              <a:t> </a:t>
            </a:r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15. Last order of each customer.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DC27CBF3-A623-8D62-5E97-F7E9DC3D5B06}"/>
              </a:ext>
            </a:extLst>
          </p:cNvPr>
          <p:cNvSpPr/>
          <p:nvPr/>
        </p:nvSpPr>
        <p:spPr>
          <a:xfrm>
            <a:off x="498824" y="3873259"/>
            <a:ext cx="1920241" cy="1046480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59D923-D1C0-6AB8-8168-3A936586D310}"/>
              </a:ext>
            </a:extLst>
          </p:cNvPr>
          <p:cNvSpPr/>
          <p:nvPr/>
        </p:nvSpPr>
        <p:spPr>
          <a:xfrm>
            <a:off x="8158480" y="1615440"/>
            <a:ext cx="3779520" cy="439207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Recent orders indicate currently active customers.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Older last-order dates suggest declining engagement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ED5471A-8E7C-ABA9-B2C5-DF92EBA55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440B5CB-4529-3A2D-C04D-F45000632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23" y="1260780"/>
            <a:ext cx="6187111" cy="2485309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136A0E98-8528-7206-0A97-2F043D6D59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95" y="4190323"/>
            <a:ext cx="5328754" cy="21691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332245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C05EBC-3FBC-A782-37BC-0EEFBC4A20C6}"/>
              </a:ext>
            </a:extLst>
          </p:cNvPr>
          <p:cNvSpPr txBox="1"/>
          <p:nvPr/>
        </p:nvSpPr>
        <p:spPr>
          <a:xfrm>
            <a:off x="389684" y="506360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16. Join customer + order details.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16138D-B5C4-209E-B9AB-A08166C0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14" y="1352920"/>
            <a:ext cx="5912502" cy="48768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AE8C4290-AD2A-0156-6C0C-3D8165552347}"/>
              </a:ext>
            </a:extLst>
          </p:cNvPr>
          <p:cNvSpPr/>
          <p:nvPr/>
        </p:nvSpPr>
        <p:spPr>
          <a:xfrm>
            <a:off x="7081520" y="1352920"/>
            <a:ext cx="4527466" cy="439207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Joining both tables shows complete customer activity in one view.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It reveals which customers are contributing the most to revenue.</a:t>
            </a:r>
          </a:p>
        </p:txBody>
      </p:sp>
    </p:spTree>
    <p:extLst>
      <p:ext uri="{BB962C8B-B14F-4D97-AF65-F5344CB8AC3E}">
        <p14:creationId xmlns:p14="http://schemas.microsoft.com/office/powerpoint/2010/main" val="14150691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194EDE-4D88-8CEC-4B6A-00E36FCC6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635" y="592908"/>
            <a:ext cx="9772936" cy="59920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5BEE1A94-33F9-24AB-2BFB-16EC8AFB96CA}"/>
              </a:ext>
            </a:extLst>
          </p:cNvPr>
          <p:cNvSpPr/>
          <p:nvPr/>
        </p:nvSpPr>
        <p:spPr>
          <a:xfrm>
            <a:off x="463429" y="376251"/>
            <a:ext cx="1414532" cy="1472213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42691599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E21A22-7965-12A2-7897-FA14A8F9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33" y="1205435"/>
            <a:ext cx="7748640" cy="16493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E6076B-4996-20E6-A65F-631FBF9B77C8}"/>
              </a:ext>
            </a:extLst>
          </p:cNvPr>
          <p:cNvSpPr txBox="1"/>
          <p:nvPr/>
        </p:nvSpPr>
        <p:spPr>
          <a:xfrm>
            <a:off x="427702" y="443943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17. Total revenue per city.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809DC9-A7E8-1B77-CBF0-9B746104D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658" y="3220556"/>
            <a:ext cx="4680155" cy="2981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AF69BB8-B539-C82C-776E-E740A22DD593}"/>
              </a:ext>
            </a:extLst>
          </p:cNvPr>
          <p:cNvSpPr/>
          <p:nvPr/>
        </p:nvSpPr>
        <p:spPr>
          <a:xfrm>
            <a:off x="539464" y="3031513"/>
            <a:ext cx="2102135" cy="1409941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2EA812-9220-5EA2-EFBE-45BDB38B38EE}"/>
              </a:ext>
            </a:extLst>
          </p:cNvPr>
          <p:cNvSpPr/>
          <p:nvPr/>
        </p:nvSpPr>
        <p:spPr>
          <a:xfrm>
            <a:off x="8036559" y="1330960"/>
            <a:ext cx="3743307" cy="453136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Revenue differs based on where more active customers are.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Some locations have fewer customers but higher spending</a:t>
            </a:r>
            <a:r>
              <a:rPr lang="en-US" altLang="en-US" sz="2400" dirty="0">
                <a:solidFill>
                  <a:schemeClr val="bg2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616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5B3E7F1-8B1F-A05C-98DF-D28A65B9FF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6268335"/>
              </p:ext>
            </p:extLst>
          </p:nvPr>
        </p:nvGraphicFramePr>
        <p:xfrm>
          <a:off x="619431" y="1061884"/>
          <a:ext cx="11012129" cy="5270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45D44D5-EDCC-29C5-06E3-6153EFCB3E95}"/>
              </a:ext>
            </a:extLst>
          </p:cNvPr>
          <p:cNvSpPr/>
          <p:nvPr/>
        </p:nvSpPr>
        <p:spPr>
          <a:xfrm>
            <a:off x="3276600" y="352474"/>
            <a:ext cx="5638800" cy="4470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139390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910449-89CA-D793-0017-B9A25833BB1D}"/>
              </a:ext>
            </a:extLst>
          </p:cNvPr>
          <p:cNvSpPr txBox="1"/>
          <p:nvPr/>
        </p:nvSpPr>
        <p:spPr>
          <a:xfrm>
            <a:off x="360188" y="379483"/>
            <a:ext cx="66023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18. Customers who joined after July.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6E51B8-9CD5-BC96-20E9-904AC5C0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88" y="1131687"/>
            <a:ext cx="5558520" cy="25029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C239A7-9FF9-5393-A55E-A55C203EF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5268" y="3634654"/>
            <a:ext cx="8190271" cy="28513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BF8DA7F2-C79D-2B43-C05B-431E3AA4E39D}"/>
              </a:ext>
            </a:extLst>
          </p:cNvPr>
          <p:cNvSpPr/>
          <p:nvPr/>
        </p:nvSpPr>
        <p:spPr>
          <a:xfrm>
            <a:off x="423133" y="3429000"/>
            <a:ext cx="2102135" cy="1409941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79F7BCF-3BF9-E3EF-4FD6-D31240AF08FF}"/>
              </a:ext>
            </a:extLst>
          </p:cNvPr>
          <p:cNvSpPr/>
          <p:nvPr/>
        </p:nvSpPr>
        <p:spPr>
          <a:xfrm>
            <a:off x="6827521" y="371991"/>
            <a:ext cx="4952346" cy="3143369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These newer customers show how quickly new users convert into buyers.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Comparing their orders reveals early engagement levels.</a:t>
            </a:r>
          </a:p>
        </p:txBody>
      </p:sp>
    </p:spTree>
    <p:extLst>
      <p:ext uri="{BB962C8B-B14F-4D97-AF65-F5344CB8AC3E}">
        <p14:creationId xmlns:p14="http://schemas.microsoft.com/office/powerpoint/2010/main" val="420330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4BE7E7-A814-22F0-C004-A5A3D95C9579}"/>
              </a:ext>
            </a:extLst>
          </p:cNvPr>
          <p:cNvSpPr txBox="1"/>
          <p:nvPr/>
        </p:nvSpPr>
        <p:spPr>
          <a:xfrm>
            <a:off x="653845" y="503592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19. Monthly order revenue.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58C2A-20DD-5AE7-654F-9E046B105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93" y="1057590"/>
            <a:ext cx="5402144" cy="2021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EBEBDE-FDEE-3455-BC65-FBF0C21F9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769" y="2952458"/>
            <a:ext cx="5053781" cy="33822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7663A8B-BF7E-8F2A-ACB1-971B54982FC7}"/>
              </a:ext>
            </a:extLst>
          </p:cNvPr>
          <p:cNvSpPr/>
          <p:nvPr/>
        </p:nvSpPr>
        <p:spPr>
          <a:xfrm>
            <a:off x="463974" y="2744947"/>
            <a:ext cx="1494159" cy="1307879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4C74AB-8C42-7706-AD76-5DF5CCF2898F}"/>
              </a:ext>
            </a:extLst>
          </p:cNvPr>
          <p:cNvSpPr/>
          <p:nvPr/>
        </p:nvSpPr>
        <p:spPr>
          <a:xfrm>
            <a:off x="7433186" y="1088367"/>
            <a:ext cx="4414340" cy="5258111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Revenue varies month to month based on customer activity.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Some months show clear spikes, driven by multiple high-value orders.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Other months show fewer orders.</a:t>
            </a:r>
          </a:p>
        </p:txBody>
      </p:sp>
    </p:spTree>
    <p:extLst>
      <p:ext uri="{BB962C8B-B14F-4D97-AF65-F5344CB8AC3E}">
        <p14:creationId xmlns:p14="http://schemas.microsoft.com/office/powerpoint/2010/main" val="14320617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5019821-873F-7EE3-C1C3-674D28E3D7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5035436"/>
              </p:ext>
            </p:extLst>
          </p:nvPr>
        </p:nvGraphicFramePr>
        <p:xfrm>
          <a:off x="363794" y="1071717"/>
          <a:ext cx="11454579" cy="5378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A04AC30-9FF2-4713-BDB1-3070CC6791AD}"/>
              </a:ext>
            </a:extLst>
          </p:cNvPr>
          <p:cNvSpPr/>
          <p:nvPr/>
        </p:nvSpPr>
        <p:spPr>
          <a:xfrm>
            <a:off x="3276600" y="352474"/>
            <a:ext cx="5638800" cy="4470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7150186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C86C26-195D-1DB1-33A6-7639717B6867}"/>
              </a:ext>
            </a:extLst>
          </p:cNvPr>
          <p:cNvSpPr txBox="1"/>
          <p:nvPr/>
        </p:nvSpPr>
        <p:spPr>
          <a:xfrm>
            <a:off x="378996" y="422990"/>
            <a:ext cx="61058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20. Find duplicate city names.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C52ED0-DCD1-7792-9E61-DF0DFD99C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96" y="1122777"/>
            <a:ext cx="4824924" cy="23062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7CA333-178B-11BF-513F-7CC10BD7A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116" y="3371951"/>
            <a:ext cx="5270090" cy="30630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7D4C6127-E39B-5056-C217-D77959EC8A9D}"/>
              </a:ext>
            </a:extLst>
          </p:cNvPr>
          <p:cNvSpPr/>
          <p:nvPr/>
        </p:nvSpPr>
        <p:spPr>
          <a:xfrm>
            <a:off x="312036" y="3408261"/>
            <a:ext cx="1772404" cy="1281726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C038B49-1E21-C4D0-1C83-A4DBB945B1BF}"/>
              </a:ext>
            </a:extLst>
          </p:cNvPr>
          <p:cNvSpPr/>
          <p:nvPr/>
        </p:nvSpPr>
        <p:spPr>
          <a:xfrm>
            <a:off x="7645882" y="1007765"/>
            <a:ext cx="4058160" cy="444734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</a:rPr>
              <a:t>The duplication highlights key areas of customer presence.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/>
                </a:solidFill>
              </a:rPr>
              <a:t>This cluster often results in higher total order volume.</a:t>
            </a:r>
            <a:endParaRPr lang="en-US" altLang="en-US" sz="24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4063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EBC193-155E-BC5C-FB48-FAD5874A043A}"/>
              </a:ext>
            </a:extLst>
          </p:cNvPr>
          <p:cNvSpPr txBox="1"/>
          <p:nvPr/>
        </p:nvSpPr>
        <p:spPr>
          <a:xfrm>
            <a:off x="638650" y="408283"/>
            <a:ext cx="71726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21. Top 5 highest spending customers.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C9C13E-137E-1E94-7008-CCA94A7D0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50" y="993058"/>
            <a:ext cx="6337779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2E7301-D59D-0933-2CEA-BF2BD76A3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839" y="3736258"/>
            <a:ext cx="5791199" cy="25957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6D70912A-45C1-9BE1-0234-8B5E02C836DE}"/>
              </a:ext>
            </a:extLst>
          </p:cNvPr>
          <p:cNvSpPr/>
          <p:nvPr/>
        </p:nvSpPr>
        <p:spPr>
          <a:xfrm>
            <a:off x="370651" y="3736258"/>
            <a:ext cx="1753118" cy="1297858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F5D322A-433B-3C2B-405E-591F377A4ACF}"/>
              </a:ext>
            </a:extLst>
          </p:cNvPr>
          <p:cNvSpPr/>
          <p:nvPr/>
        </p:nvSpPr>
        <p:spPr>
          <a:xfrm>
            <a:off x="6976429" y="526026"/>
            <a:ext cx="4760297" cy="387012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These customers contribute the majority of the total revenue.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The ranking highlights clear differences in spending behavior.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E0E416D-91B8-998F-B2CE-3DFCB4D6B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75029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0804431-39C7-353A-AEF0-C6B7666126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9017555"/>
              </p:ext>
            </p:extLst>
          </p:nvPr>
        </p:nvGraphicFramePr>
        <p:xfrm>
          <a:off x="589935" y="1012723"/>
          <a:ext cx="11021962" cy="5456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85061D0-0612-B294-0AAD-6833F527840E}"/>
              </a:ext>
            </a:extLst>
          </p:cNvPr>
          <p:cNvSpPr/>
          <p:nvPr/>
        </p:nvSpPr>
        <p:spPr>
          <a:xfrm>
            <a:off x="3276600" y="352474"/>
            <a:ext cx="5638800" cy="4470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57900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F4A44A-F2AB-F332-503C-0C9C73F36D9B}"/>
              </a:ext>
            </a:extLst>
          </p:cNvPr>
          <p:cNvSpPr txBox="1"/>
          <p:nvPr/>
        </p:nvSpPr>
        <p:spPr>
          <a:xfrm>
            <a:off x="486697" y="523256"/>
            <a:ext cx="7467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22. Orders sorted by amount (descending).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36A22-7FB1-F98B-177C-19E2B2917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74" y="1226763"/>
            <a:ext cx="5377408" cy="3775587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B7458506-D1D5-E52D-11F5-E9500D437971}"/>
              </a:ext>
            </a:extLst>
          </p:cNvPr>
          <p:cNvSpPr/>
          <p:nvPr/>
        </p:nvSpPr>
        <p:spPr>
          <a:xfrm>
            <a:off x="6576646" y="1637070"/>
            <a:ext cx="4865076" cy="396656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Sorting highlights the gap between low and high-value orders.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Largest orders appear at the top, showing premium transactions.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173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0A5925-5833-83C0-63B8-593E13C66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329" y="567813"/>
            <a:ext cx="9118581" cy="5954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EF0D622B-A3E7-EDA9-CC1C-2CDF3A881A9E}"/>
              </a:ext>
            </a:extLst>
          </p:cNvPr>
          <p:cNvSpPr/>
          <p:nvPr/>
        </p:nvSpPr>
        <p:spPr>
          <a:xfrm>
            <a:off x="358927" y="395181"/>
            <a:ext cx="1918081" cy="1034845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664298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9A16FB-EC0B-A164-EA8B-E3A9D7DD44A7}"/>
              </a:ext>
            </a:extLst>
          </p:cNvPr>
          <p:cNvSpPr txBox="1"/>
          <p:nvPr/>
        </p:nvSpPr>
        <p:spPr>
          <a:xfrm>
            <a:off x="300261" y="361281"/>
            <a:ext cx="107417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23. Customers and their total number of orders (0 included).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1F557-2A75-DC86-FB01-CA81DBD0A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61" y="1311472"/>
            <a:ext cx="6668710" cy="3942735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DDAD84D-F9B9-35C8-1B62-96DCF0CB1E4A}"/>
              </a:ext>
            </a:extLst>
          </p:cNvPr>
          <p:cNvSpPr/>
          <p:nvPr/>
        </p:nvSpPr>
        <p:spPr>
          <a:xfrm>
            <a:off x="6600092" y="1676888"/>
            <a:ext cx="4794739" cy="394273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Combines data to show both active and inactive customers.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Highlights customers who signed up but never purchased.</a:t>
            </a:r>
          </a:p>
        </p:txBody>
      </p:sp>
    </p:spTree>
    <p:extLst>
      <p:ext uri="{BB962C8B-B14F-4D97-AF65-F5344CB8AC3E}">
        <p14:creationId xmlns:p14="http://schemas.microsoft.com/office/powerpoint/2010/main" val="2099943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653462-1028-FDB6-8CA0-C8E984061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976" y="533400"/>
            <a:ext cx="9528593" cy="6019800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F8F61BD7-53F2-612D-E988-B920E25B0A82}"/>
              </a:ext>
            </a:extLst>
          </p:cNvPr>
          <p:cNvSpPr/>
          <p:nvPr/>
        </p:nvSpPr>
        <p:spPr>
          <a:xfrm>
            <a:off x="358927" y="395181"/>
            <a:ext cx="1918081" cy="1034845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22294768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D99395D-B5CE-FDF5-E87A-7B148D48FF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2148403"/>
              </p:ext>
            </p:extLst>
          </p:nvPr>
        </p:nvGraphicFramePr>
        <p:xfrm>
          <a:off x="363794" y="983226"/>
          <a:ext cx="11484077" cy="54470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5864915-EA4E-D85C-8BCD-BD65E76DE3D4}"/>
              </a:ext>
            </a:extLst>
          </p:cNvPr>
          <p:cNvSpPr/>
          <p:nvPr/>
        </p:nvSpPr>
        <p:spPr>
          <a:xfrm>
            <a:off x="3276600" y="352474"/>
            <a:ext cx="5638800" cy="44704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2"/>
                </a:solidFill>
              </a:rPr>
              <a:t>Graphical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174201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91377-548A-83EA-7760-E419010A3B3B}"/>
              </a:ext>
            </a:extLst>
          </p:cNvPr>
          <p:cNvSpPr txBox="1"/>
          <p:nvPr/>
        </p:nvSpPr>
        <p:spPr>
          <a:xfrm>
            <a:off x="265975" y="444208"/>
            <a:ext cx="10043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24. Rank customers by spending (window function).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986233-CAE5-EFA1-C7BD-245D48AD5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0" y="1345507"/>
            <a:ext cx="7452852" cy="488663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38A14E9-BB0F-3F13-8F48-E4EF9148B5BF}"/>
              </a:ext>
            </a:extLst>
          </p:cNvPr>
          <p:cNvSpPr/>
          <p:nvPr/>
        </p:nvSpPr>
        <p:spPr>
          <a:xfrm>
            <a:off x="7713786" y="1345506"/>
            <a:ext cx="3962400" cy="4973231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Ranking showcases which customers contribute most to revenue.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2"/>
                </a:solidFill>
              </a:rPr>
              <a:t>It highlights spending differences not visible in raw data.</a:t>
            </a:r>
          </a:p>
        </p:txBody>
      </p:sp>
    </p:spTree>
    <p:extLst>
      <p:ext uri="{BB962C8B-B14F-4D97-AF65-F5344CB8AC3E}">
        <p14:creationId xmlns:p14="http://schemas.microsoft.com/office/powerpoint/2010/main" val="27974013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7947F-8C2B-F85B-C8EA-1C28B557D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008" y="395181"/>
            <a:ext cx="9106100" cy="61499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43A61D5A-1A21-A62E-F723-D6C6DCEEBB3C}"/>
              </a:ext>
            </a:extLst>
          </p:cNvPr>
          <p:cNvSpPr/>
          <p:nvPr/>
        </p:nvSpPr>
        <p:spPr>
          <a:xfrm>
            <a:off x="358927" y="395181"/>
            <a:ext cx="1833667" cy="1236974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7512796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152805-C011-BD8A-087A-F3622EFCA5B7}"/>
              </a:ext>
            </a:extLst>
          </p:cNvPr>
          <p:cNvSpPr txBox="1"/>
          <p:nvPr/>
        </p:nvSpPr>
        <p:spPr>
          <a:xfrm>
            <a:off x="342616" y="370478"/>
            <a:ext cx="10043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highlight>
                  <a:srgbClr val="00695C"/>
                </a:highlight>
              </a:rPr>
              <a:t>25. Running total of order amounts (window function).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3761F-125C-55A1-747B-B4AD70B1B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93" y="1200609"/>
            <a:ext cx="6508955" cy="4456782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6F1E2CDC-774D-3FAD-F60E-18CC36208968}"/>
              </a:ext>
            </a:extLst>
          </p:cNvPr>
          <p:cNvSpPr/>
          <p:nvPr/>
        </p:nvSpPr>
        <p:spPr>
          <a:xfrm>
            <a:off x="6938548" y="1295579"/>
            <a:ext cx="4573514" cy="4607168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ts val="5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Cumulative revenue shows how earnings build over time.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bg1"/>
                </a:solidFill>
              </a:rPr>
              <a:t>This trend helps identify the most impactful transactions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1465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8689A2-BED8-E3A3-D266-9F6518B02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2" y="324465"/>
            <a:ext cx="9473331" cy="62238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7FA0040A-A4A1-D9A9-2C2C-B26CF722BD1C}"/>
              </a:ext>
            </a:extLst>
          </p:cNvPr>
          <p:cNvSpPr/>
          <p:nvPr/>
        </p:nvSpPr>
        <p:spPr>
          <a:xfrm>
            <a:off x="358927" y="395181"/>
            <a:ext cx="1918081" cy="1034845"/>
          </a:xfrm>
          <a:prstGeom prst="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300" dirty="0">
                <a:solidFill>
                  <a:schemeClr val="bg2"/>
                </a:solidFill>
              </a:rPr>
              <a:t>Result Table</a:t>
            </a:r>
          </a:p>
        </p:txBody>
      </p:sp>
    </p:spTree>
    <p:extLst>
      <p:ext uri="{BB962C8B-B14F-4D97-AF65-F5344CB8AC3E}">
        <p14:creationId xmlns:p14="http://schemas.microsoft.com/office/powerpoint/2010/main" val="275938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Creative Thank You Presentation Slide">
            <a:extLst>
              <a:ext uri="{FF2B5EF4-FFF2-40B4-BE49-F238E27FC236}">
                <a16:creationId xmlns:a16="http://schemas.microsoft.com/office/drawing/2014/main" id="{81B5F023-9DBA-A5EA-A367-9241226C87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1961" y="734961"/>
            <a:ext cx="6371304" cy="4643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Animated Thank You PowerPoint Template">
            <a:extLst>
              <a:ext uri="{FF2B5EF4-FFF2-40B4-BE49-F238E27FC236}">
                <a16:creationId xmlns:a16="http://schemas.microsoft.com/office/drawing/2014/main" id="{13972C65-E361-D274-1099-9E94EC7BF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4" y="235975"/>
            <a:ext cx="11729884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404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891</Words>
  <Application>Microsoft Office PowerPoint</Application>
  <PresentationFormat>Widescreen</PresentationFormat>
  <Paragraphs>185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Indira Priya Dharshini</dc:creator>
  <cp:lastModifiedBy>Indira Priya Dharshini</cp:lastModifiedBy>
  <cp:revision>176</cp:revision>
  <dcterms:created xsi:type="dcterms:W3CDTF">2025-12-01T12:28:45Z</dcterms:created>
  <dcterms:modified xsi:type="dcterms:W3CDTF">2026-02-11T05:29:36Z</dcterms:modified>
</cp:coreProperties>
</file>